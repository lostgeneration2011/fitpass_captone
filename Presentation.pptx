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13"/>
  </p:sldIdLst>
  <p:sldSz cx="12192000" cy="6858000"/>
  <p:notesSz cx="6858000" cy="9144000"/>
  <p:embeddedFontLst>
    <p:embeddedFont>
      <p:font typeface="Helvetica Neue" panose="020B0604020202020204" charset="0"/>
      <p:regular r:id="rId15"/>
      <p:bold r:id="rId16"/>
      <p:italic r:id="rId17"/>
      <p:boldItalic r:id="rId18"/>
    </p:embeddedFont>
    <p:embeddedFont>
      <p:font typeface="Helvetica Neue Light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jQzsN6F5iOvpaxnahMAkKru8cO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F7FD"/>
    <a:srgbClr val="F6F5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4674"/>
  </p:normalViewPr>
  <p:slideViewPr>
    <p:cSldViewPr snapToGrid="0">
      <p:cViewPr varScale="1">
        <p:scale>
          <a:sx n="78" d="100"/>
          <a:sy n="78" d="100"/>
        </p:scale>
        <p:origin x="85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Title Slide" type="title">
  <p:cSld name="TITLE">
    <p:bg>
      <p:bgPr>
        <a:gradFill>
          <a:gsLst>
            <a:gs pos="0">
              <a:srgbClr val="002060"/>
            </a:gs>
            <a:gs pos="85000">
              <a:srgbClr val="2F5496"/>
            </a:gs>
            <a:gs pos="91000">
              <a:srgbClr val="3864B2"/>
            </a:gs>
            <a:gs pos="97000">
              <a:srgbClr val="2C4E8C"/>
            </a:gs>
            <a:gs pos="100000">
              <a:srgbClr val="2C4E8C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9985828" y="6356350"/>
            <a:ext cx="13679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53C1DC-9054-7672-1F32-700EC075E4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3813"/>
            <a:ext cx="5497975" cy="894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title"/>
          </p:nvPr>
        </p:nvSpPr>
        <p:spPr>
          <a:xfrm>
            <a:off x="838200" y="263301"/>
            <a:ext cx="10515600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Helvetica Neue"/>
              <a:buNone/>
              <a:defRPr sz="37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Helvetica Neue"/>
              <a:buNone/>
              <a:defRPr sz="37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Helvetica Neue"/>
              <a:buNone/>
              <a:defRPr sz="37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Helvetica Neue"/>
              <a:buNone/>
              <a:defRPr sz="37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Helvetica Neue"/>
              <a:buNone/>
              <a:defRPr sz="37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Helvetica Neue"/>
              <a:buNone/>
              <a:defRPr sz="3700" b="1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Helvetica Neue"/>
              <a:buNone/>
              <a:defRPr sz="3700" b="1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Helvetica Neue"/>
              <a:buNone/>
              <a:defRPr sz="3700" b="1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Helvetica Neue"/>
              <a:buNone/>
              <a:defRPr sz="3700" b="1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dirty="0"/>
          </a:p>
        </p:txBody>
      </p:sp>
      <p:sp>
        <p:nvSpPr>
          <p:cNvPr id="24" name="Google Shape;24;p18"/>
          <p:cNvSpPr txBox="1">
            <a:spLocks noGrp="1"/>
          </p:cNvSpPr>
          <p:nvPr>
            <p:ph type="body" idx="1"/>
          </p:nvPr>
        </p:nvSpPr>
        <p:spPr>
          <a:xfrm>
            <a:off x="838200" y="1074057"/>
            <a:ext cx="10515600" cy="512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Helvetica Neue"/>
              <a:buChar char="•"/>
              <a:defRPr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Helvetica Neue"/>
              <a:buChar char="•"/>
              <a:defRPr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Helvetica Neue"/>
              <a:buChar char="•"/>
              <a:defRPr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Helvetica Neue"/>
              <a:buChar char="•"/>
              <a:defRPr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Helvetica Neue"/>
              <a:buChar char="•"/>
              <a:defRPr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sldNum" idx="12"/>
          </p:nvPr>
        </p:nvSpPr>
        <p:spPr>
          <a:xfrm>
            <a:off x="10000340" y="6356350"/>
            <a:ext cx="13534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8"/>
          <p:cNvSpPr txBox="1"/>
          <p:nvPr/>
        </p:nvSpPr>
        <p:spPr>
          <a:xfrm>
            <a:off x="3102600" y="6488700"/>
            <a:ext cx="598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 Name - Project Name</a:t>
            </a:r>
            <a:endParaRPr sz="1200" i="1">
              <a:solidFill>
                <a:srgbClr val="88888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000"/>
              <a:buFont typeface="Calibri"/>
              <a:buNone/>
              <a:defRPr sz="6000">
                <a:solidFill>
                  <a:srgbClr val="0020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  <a:defRPr sz="2400">
                <a:solidFill>
                  <a:srgbClr val="002060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838200" y="6364028"/>
            <a:ext cx="13679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2365828" y="6356350"/>
            <a:ext cx="74893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10014856" y="6356350"/>
            <a:ext cx="133894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838200" y="278042"/>
            <a:ext cx="105156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838200" y="1092429"/>
            <a:ext cx="5181600" cy="5084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  <a:defRPr>
                <a:solidFill>
                  <a:srgbClr val="002060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  <a:defRPr>
                <a:solidFill>
                  <a:srgbClr val="002060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  <a:defRPr>
                <a:solidFill>
                  <a:srgbClr val="002060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6172200" y="1092429"/>
            <a:ext cx="5181600" cy="5084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  <a:defRPr>
                <a:solidFill>
                  <a:srgbClr val="002060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  <a:defRPr>
                <a:solidFill>
                  <a:srgbClr val="002060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  <a:defRPr>
                <a:solidFill>
                  <a:srgbClr val="002060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838201" y="6356350"/>
            <a:ext cx="14115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2365828" y="6356350"/>
            <a:ext cx="74893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9985828" y="6356350"/>
            <a:ext cx="13679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839788" y="263527"/>
            <a:ext cx="10515600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836612" y="1197884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839788" y="2021796"/>
            <a:ext cx="5157787" cy="416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6194427" y="1197884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6172200" y="2021796"/>
            <a:ext cx="5183188" cy="416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838201" y="6356350"/>
            <a:ext cx="14115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2365828" y="6356350"/>
            <a:ext cx="74893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9985828" y="6356350"/>
            <a:ext cx="13679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838200" y="254955"/>
            <a:ext cx="10515600" cy="677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1" y="6356350"/>
            <a:ext cx="14115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2365828" y="6356350"/>
            <a:ext cx="74893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9985828" y="6356350"/>
            <a:ext cx="13679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4943344" y="987425"/>
            <a:ext cx="6408867" cy="521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41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838201" y="6356350"/>
            <a:ext cx="14115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2365828" y="6356350"/>
            <a:ext cx="74893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9985828" y="6356350"/>
            <a:ext cx="13679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5203513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413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838201" y="6356350"/>
            <a:ext cx="14115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2365828" y="6356350"/>
            <a:ext cx="74893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9985828" y="6356350"/>
            <a:ext cx="13679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838200" y="254955"/>
            <a:ext cx="10515600" cy="677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525141" y="-1631060"/>
            <a:ext cx="5141719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838201" y="6356350"/>
            <a:ext cx="14115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2365828" y="6356350"/>
            <a:ext cx="74893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9985828" y="6356350"/>
            <a:ext cx="13679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ustom Layout">
  <p:cSld name="Custom Layou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>
            <a:off x="838200" y="254955"/>
            <a:ext cx="10515600" cy="677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dt" idx="10"/>
          </p:nvPr>
        </p:nvSpPr>
        <p:spPr>
          <a:xfrm>
            <a:off x="838201" y="6356350"/>
            <a:ext cx="14115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ftr" idx="11"/>
          </p:nvPr>
        </p:nvSpPr>
        <p:spPr>
          <a:xfrm>
            <a:off x="2365828" y="6356350"/>
            <a:ext cx="74893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sldNum" idx="12"/>
          </p:nvPr>
        </p:nvSpPr>
        <p:spPr>
          <a:xfrm>
            <a:off x="9985828" y="6356350"/>
            <a:ext cx="13679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Custom Layout">
  <p:cSld name="1_Custom Layout">
    <p:bg>
      <p:bgPr>
        <a:solidFill>
          <a:schemeClr val="dk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7"/>
          <p:cNvSpPr txBox="1">
            <a:spLocks noGrp="1"/>
          </p:cNvSpPr>
          <p:nvPr>
            <p:ph type="title"/>
          </p:nvPr>
        </p:nvSpPr>
        <p:spPr>
          <a:xfrm>
            <a:off x="838200" y="254955"/>
            <a:ext cx="10515600" cy="677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7"/>
          <p:cNvSpPr txBox="1">
            <a:spLocks noGrp="1"/>
          </p:cNvSpPr>
          <p:nvPr>
            <p:ph type="dt" idx="10"/>
          </p:nvPr>
        </p:nvSpPr>
        <p:spPr>
          <a:xfrm>
            <a:off x="838201" y="6356350"/>
            <a:ext cx="14115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ftr" idx="11"/>
          </p:nvPr>
        </p:nvSpPr>
        <p:spPr>
          <a:xfrm>
            <a:off x="2365828" y="6356350"/>
            <a:ext cx="74893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sldNum" idx="12"/>
          </p:nvPr>
        </p:nvSpPr>
        <p:spPr>
          <a:xfrm>
            <a:off x="9985828" y="6356350"/>
            <a:ext cx="13679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4725" y="352193"/>
            <a:ext cx="10705617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6"/>
          <p:cNvSpPr txBox="1">
            <a:spLocks noGrp="1"/>
          </p:cNvSpPr>
          <p:nvPr>
            <p:ph type="title"/>
          </p:nvPr>
        </p:nvSpPr>
        <p:spPr>
          <a:xfrm>
            <a:off x="838200" y="254955"/>
            <a:ext cx="10515600" cy="677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2" name="Google Shape;12;p16"/>
          <p:cNvSpPr txBox="1">
            <a:spLocks noGrp="1"/>
          </p:cNvSpPr>
          <p:nvPr>
            <p:ph type="body" idx="1"/>
          </p:nvPr>
        </p:nvSpPr>
        <p:spPr>
          <a:xfrm>
            <a:off x="838200" y="1055881"/>
            <a:ext cx="10515600" cy="514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16"/>
          <p:cNvSpPr txBox="1">
            <a:spLocks noGrp="1"/>
          </p:cNvSpPr>
          <p:nvPr>
            <p:ph type="dt" idx="10"/>
          </p:nvPr>
        </p:nvSpPr>
        <p:spPr>
          <a:xfrm>
            <a:off x="838201" y="6356350"/>
            <a:ext cx="14115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ftr" idx="11"/>
          </p:nvPr>
        </p:nvSpPr>
        <p:spPr>
          <a:xfrm>
            <a:off x="2365828" y="6356350"/>
            <a:ext cx="74893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sldNum" idx="12"/>
          </p:nvPr>
        </p:nvSpPr>
        <p:spPr>
          <a:xfrm>
            <a:off x="9985828" y="6356350"/>
            <a:ext cx="13679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1E3D19-0AB1-5AA6-0324-3115DAEDAC5E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887714" y="185508"/>
            <a:ext cx="4304285" cy="700642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5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6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7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8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9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85000">
              <a:srgbClr val="2F5496"/>
            </a:gs>
            <a:gs pos="91000">
              <a:srgbClr val="3864B2"/>
            </a:gs>
            <a:gs pos="97000">
              <a:srgbClr val="2C4E8C"/>
            </a:gs>
            <a:gs pos="100000">
              <a:srgbClr val="2C4E8C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602566" y="1214438"/>
            <a:ext cx="10986868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elvetica Neue"/>
              <a:buNone/>
            </a:pPr>
            <a:r>
              <a:rPr lang="en-US" b="1" dirty="0">
                <a:latin typeface="Helvetica Neue"/>
                <a:ea typeface="Helvetica Neue"/>
                <a:cs typeface="Helvetica Neue"/>
                <a:sym typeface="Helvetica Neue"/>
              </a:rPr>
              <a:t>FITPASS APP</a:t>
            </a:r>
            <a:endParaRPr sz="4800" b="1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602566" y="3987800"/>
            <a:ext cx="10986867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dirty="0">
                <a:latin typeface="Helvetica Neue"/>
                <a:ea typeface="Helvetica Neue"/>
                <a:cs typeface="Helvetica Neue"/>
                <a:sym typeface="Helvetica Neue"/>
              </a:rPr>
              <a:t>Class Name:	FULL STACK DEVELOPER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dirty="0">
                <a:latin typeface="Helvetica Neue"/>
                <a:ea typeface="Helvetica Neue"/>
                <a:cs typeface="Helvetica Neue"/>
                <a:sym typeface="Helvetica Neue"/>
              </a:rPr>
              <a:t>Group Name: K24WD-01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dirty="0">
                <a:latin typeface="Helvetica Neue"/>
                <a:ea typeface="Helvetica Neue"/>
                <a:cs typeface="Helvetica Neue"/>
                <a:sym typeface="Helvetica Neue"/>
              </a:rPr>
              <a:t>Members: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dirty="0">
                <a:latin typeface="Helvetica Neue"/>
                <a:ea typeface="Helvetica Neue"/>
                <a:cs typeface="Helvetica Neue"/>
                <a:sym typeface="Helvetica Neue"/>
              </a:rPr>
              <a:t>o	</a:t>
            </a:r>
            <a:r>
              <a:rPr lang="en-US" dirty="0" err="1">
                <a:latin typeface="Helvetica Neue"/>
                <a:ea typeface="Helvetica Neue"/>
                <a:cs typeface="Helvetica Neue"/>
                <a:sym typeface="Helvetica Neue"/>
              </a:rPr>
              <a:t>Đinh</a:t>
            </a:r>
            <a:r>
              <a:rPr lang="en-US" dirty="0">
                <a:latin typeface="Helvetica Neue"/>
                <a:ea typeface="Helvetica Neue"/>
                <a:cs typeface="Helvetica Neue"/>
                <a:sym typeface="Helvetica Neue"/>
              </a:rPr>
              <a:t> Hà </a:t>
            </a:r>
            <a:r>
              <a:rPr lang="en-US" dirty="0" err="1">
                <a:latin typeface="Helvetica Neue"/>
                <a:ea typeface="Helvetica Neue"/>
                <a:cs typeface="Helvetica Neue"/>
                <a:sym typeface="Helvetica Neue"/>
              </a:rPr>
              <a:t>Tuấn</a:t>
            </a:r>
            <a:r>
              <a:rPr lang="en-US" dirty="0">
                <a:latin typeface="Helvetica Neue"/>
                <a:ea typeface="Helvetica Neue"/>
                <a:cs typeface="Helvetica Neue"/>
                <a:sym typeface="Helvetica Neue"/>
              </a:rPr>
              <a:t> Anh – MSHV: 124010123019</a:t>
            </a:r>
            <a:endParaRPr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dirty="0"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endParaRPr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163103" y="263301"/>
            <a:ext cx="11844998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 lang="en-US" dirty="0"/>
              <a:t>OBJECTIVES</a:t>
            </a:r>
            <a:endParaRPr dirty="0"/>
          </a:p>
        </p:txBody>
      </p:sp>
      <p:sp>
        <p:nvSpPr>
          <p:cNvPr id="97" name="Google Shape;97;p2" descr="Anh Dinh -Fitpass Project"/>
          <p:cNvSpPr txBox="1">
            <a:spLocks noGrp="1"/>
          </p:cNvSpPr>
          <p:nvPr>
            <p:ph type="body" idx="1"/>
          </p:nvPr>
        </p:nvSpPr>
        <p:spPr>
          <a:xfrm>
            <a:off x="165729" y="1074057"/>
            <a:ext cx="11844997" cy="5411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76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endParaRPr sz="2400" dirty="0"/>
          </a:p>
        </p:txBody>
      </p:sp>
      <p:sp>
        <p:nvSpPr>
          <p:cNvPr id="98" name="Google Shape;98;p2"/>
          <p:cNvSpPr txBox="1">
            <a:spLocks noGrp="1"/>
          </p:cNvSpPr>
          <p:nvPr>
            <p:ph type="sldNum" idx="12"/>
          </p:nvPr>
        </p:nvSpPr>
        <p:spPr>
          <a:xfrm>
            <a:off x="10654642" y="6517962"/>
            <a:ext cx="13534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 dirty="0"/>
          </a:p>
        </p:txBody>
      </p:sp>
      <p:pic>
        <p:nvPicPr>
          <p:cNvPr id="5" name="Picture 4" descr="A diagram of a computer network">
            <a:extLst>
              <a:ext uri="{FF2B5EF4-FFF2-40B4-BE49-F238E27FC236}">
                <a16:creationId xmlns:a16="http://schemas.microsoft.com/office/drawing/2014/main" id="{F125B4F0-927D-107E-14E8-6306FDF0C0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1274" y="1065759"/>
            <a:ext cx="11826827" cy="54194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CC0642F-D683-6772-026B-AD9FE1B4E640}"/>
              </a:ext>
            </a:extLst>
          </p:cNvPr>
          <p:cNvSpPr/>
          <p:nvPr/>
        </p:nvSpPr>
        <p:spPr>
          <a:xfrm>
            <a:off x="10962968" y="6325810"/>
            <a:ext cx="1045133" cy="202393"/>
          </a:xfrm>
          <a:prstGeom prst="rect">
            <a:avLst/>
          </a:prstGeom>
          <a:solidFill>
            <a:srgbClr val="ECF7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163103" y="263301"/>
            <a:ext cx="11844998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 lang="en-US" dirty="0"/>
              <a:t>INTRODUCTION TO PROJECT</a:t>
            </a:r>
            <a:endParaRPr dirty="0"/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165729" y="1074057"/>
            <a:ext cx="11844997" cy="5411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76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endParaRPr sz="2400" dirty="0"/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10654642" y="6517962"/>
            <a:ext cx="13534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3" name="Picture 2" descr="A diagram of a cell phone">
            <a:extLst>
              <a:ext uri="{FF2B5EF4-FFF2-40B4-BE49-F238E27FC236}">
                <a16:creationId xmlns:a16="http://schemas.microsoft.com/office/drawing/2014/main" id="{9AC624D3-CB2B-379A-6DE9-518E420ECB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1272" y="1048595"/>
            <a:ext cx="11844998" cy="54693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ABDF04A-8F1E-E022-D163-8F796E907362}"/>
              </a:ext>
            </a:extLst>
          </p:cNvPr>
          <p:cNvSpPr/>
          <p:nvPr/>
        </p:nvSpPr>
        <p:spPr>
          <a:xfrm>
            <a:off x="10962968" y="6325810"/>
            <a:ext cx="1045133" cy="202393"/>
          </a:xfrm>
          <a:prstGeom prst="rect">
            <a:avLst/>
          </a:prstGeom>
          <a:solidFill>
            <a:srgbClr val="ECF7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>
            <a:spLocks noGrp="1"/>
          </p:cNvSpPr>
          <p:nvPr>
            <p:ph type="title"/>
          </p:nvPr>
        </p:nvSpPr>
        <p:spPr>
          <a:xfrm>
            <a:off x="163103" y="263301"/>
            <a:ext cx="11844998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 lang="en-US" dirty="0"/>
              <a:t>CUSTOMER REQUIREMENTS</a:t>
            </a:r>
            <a:endParaRPr dirty="0"/>
          </a:p>
        </p:txBody>
      </p:sp>
      <p:sp>
        <p:nvSpPr>
          <p:cNvPr id="113" name="Google Shape;113;p4"/>
          <p:cNvSpPr txBox="1">
            <a:spLocks noGrp="1"/>
          </p:cNvSpPr>
          <p:nvPr>
            <p:ph type="body" idx="1"/>
          </p:nvPr>
        </p:nvSpPr>
        <p:spPr>
          <a:xfrm>
            <a:off x="165729" y="1074057"/>
            <a:ext cx="11844997" cy="5411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76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endParaRPr sz="2400" dirty="0"/>
          </a:p>
        </p:txBody>
      </p:sp>
      <p:sp>
        <p:nvSpPr>
          <p:cNvPr id="114" name="Google Shape;114;p4"/>
          <p:cNvSpPr txBox="1">
            <a:spLocks noGrp="1"/>
          </p:cNvSpPr>
          <p:nvPr>
            <p:ph type="sldNum" idx="12"/>
          </p:nvPr>
        </p:nvSpPr>
        <p:spPr>
          <a:xfrm>
            <a:off x="10654642" y="6517962"/>
            <a:ext cx="13534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3" name="Picture 2" descr="A chart with text and images">
            <a:extLst>
              <a:ext uri="{FF2B5EF4-FFF2-40B4-BE49-F238E27FC236}">
                <a16:creationId xmlns:a16="http://schemas.microsoft.com/office/drawing/2014/main" id="{0B1974E5-6625-1C74-D328-22F7A9756B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1274" y="1074057"/>
            <a:ext cx="11826827" cy="544390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0360BA1-BAFD-DCFC-C00C-52881C2023C5}"/>
              </a:ext>
            </a:extLst>
          </p:cNvPr>
          <p:cNvSpPr/>
          <p:nvPr/>
        </p:nvSpPr>
        <p:spPr>
          <a:xfrm>
            <a:off x="10962968" y="6325810"/>
            <a:ext cx="1045133" cy="202393"/>
          </a:xfrm>
          <a:prstGeom prst="rect">
            <a:avLst/>
          </a:prstGeom>
          <a:solidFill>
            <a:srgbClr val="ECF7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>
            <a:spLocks noGrp="1"/>
          </p:cNvSpPr>
          <p:nvPr>
            <p:ph type="title"/>
          </p:nvPr>
        </p:nvSpPr>
        <p:spPr>
          <a:xfrm>
            <a:off x="163103" y="263301"/>
            <a:ext cx="11844998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 lang="en-US" dirty="0"/>
              <a:t>USE CASE</a:t>
            </a:r>
            <a:endParaRPr dirty="0"/>
          </a:p>
        </p:txBody>
      </p:sp>
      <p:sp>
        <p:nvSpPr>
          <p:cNvPr id="121" name="Google Shape;121;p5"/>
          <p:cNvSpPr txBox="1">
            <a:spLocks noGrp="1"/>
          </p:cNvSpPr>
          <p:nvPr>
            <p:ph type="body" idx="1"/>
          </p:nvPr>
        </p:nvSpPr>
        <p:spPr>
          <a:xfrm>
            <a:off x="165729" y="1074057"/>
            <a:ext cx="11844997" cy="5411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76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endParaRPr sz="2400" dirty="0"/>
          </a:p>
        </p:txBody>
      </p:sp>
      <p:sp>
        <p:nvSpPr>
          <p:cNvPr id="122" name="Google Shape;122;p5"/>
          <p:cNvSpPr txBox="1">
            <a:spLocks noGrp="1"/>
          </p:cNvSpPr>
          <p:nvPr>
            <p:ph type="sldNum" idx="12"/>
          </p:nvPr>
        </p:nvSpPr>
        <p:spPr>
          <a:xfrm>
            <a:off x="10654642" y="6517962"/>
            <a:ext cx="13534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8F27CB-6114-0B50-640D-7AA26C2724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81273" y="1074057"/>
            <a:ext cx="11826827" cy="54439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9215CF2-E49F-AD19-6574-4CFDE4BCC29B}"/>
              </a:ext>
            </a:extLst>
          </p:cNvPr>
          <p:cNvSpPr/>
          <p:nvPr/>
        </p:nvSpPr>
        <p:spPr>
          <a:xfrm>
            <a:off x="10962968" y="6325810"/>
            <a:ext cx="1045133" cy="202393"/>
          </a:xfrm>
          <a:prstGeom prst="rect">
            <a:avLst/>
          </a:prstGeom>
          <a:solidFill>
            <a:srgbClr val="ECF7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>
            <a:spLocks noGrp="1"/>
          </p:cNvSpPr>
          <p:nvPr>
            <p:ph type="title"/>
          </p:nvPr>
        </p:nvSpPr>
        <p:spPr>
          <a:xfrm>
            <a:off x="163103" y="263301"/>
            <a:ext cx="11844998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 lang="en-US" dirty="0"/>
              <a:t>ACTIVITY DIAGRAM</a:t>
            </a:r>
            <a:endParaRPr dirty="0"/>
          </a:p>
        </p:txBody>
      </p:sp>
      <p:sp>
        <p:nvSpPr>
          <p:cNvPr id="129" name="Google Shape;129;p6"/>
          <p:cNvSpPr txBox="1">
            <a:spLocks noGrp="1"/>
          </p:cNvSpPr>
          <p:nvPr>
            <p:ph type="body" idx="1"/>
          </p:nvPr>
        </p:nvSpPr>
        <p:spPr>
          <a:xfrm>
            <a:off x="165729" y="1074057"/>
            <a:ext cx="11844997" cy="5411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76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endParaRPr sz="2400" dirty="0"/>
          </a:p>
        </p:txBody>
      </p:sp>
      <p:sp>
        <p:nvSpPr>
          <p:cNvPr id="130" name="Google Shape;130;p6"/>
          <p:cNvSpPr txBox="1">
            <a:spLocks noGrp="1"/>
          </p:cNvSpPr>
          <p:nvPr>
            <p:ph type="sldNum" idx="12"/>
          </p:nvPr>
        </p:nvSpPr>
        <p:spPr>
          <a:xfrm>
            <a:off x="10654642" y="6517962"/>
            <a:ext cx="13534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74C40F-D967-C04D-0512-995E37555B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81274" y="1074057"/>
            <a:ext cx="11826827" cy="54439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E4A5CA1-F216-E068-83B1-4EB403C6B62F}"/>
              </a:ext>
            </a:extLst>
          </p:cNvPr>
          <p:cNvSpPr/>
          <p:nvPr/>
        </p:nvSpPr>
        <p:spPr>
          <a:xfrm>
            <a:off x="10962968" y="6325810"/>
            <a:ext cx="1045133" cy="202393"/>
          </a:xfrm>
          <a:prstGeom prst="rect">
            <a:avLst/>
          </a:prstGeom>
          <a:solidFill>
            <a:srgbClr val="ECF7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>
            <a:spLocks noGrp="1"/>
          </p:cNvSpPr>
          <p:nvPr>
            <p:ph type="title"/>
          </p:nvPr>
        </p:nvSpPr>
        <p:spPr>
          <a:xfrm>
            <a:off x="163103" y="263301"/>
            <a:ext cx="11844998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 lang="en-US" dirty="0"/>
              <a:t>UI DESIGN</a:t>
            </a:r>
            <a:endParaRPr dirty="0"/>
          </a:p>
        </p:txBody>
      </p:sp>
      <p:sp>
        <p:nvSpPr>
          <p:cNvPr id="137" name="Google Shape;137;p7"/>
          <p:cNvSpPr txBox="1">
            <a:spLocks noGrp="1"/>
          </p:cNvSpPr>
          <p:nvPr>
            <p:ph type="body" idx="1"/>
          </p:nvPr>
        </p:nvSpPr>
        <p:spPr>
          <a:xfrm>
            <a:off x="165729" y="1074057"/>
            <a:ext cx="11844997" cy="5411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76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endParaRPr sz="2400" dirty="0"/>
          </a:p>
        </p:txBody>
      </p:sp>
      <p:sp>
        <p:nvSpPr>
          <p:cNvPr id="138" name="Google Shape;138;p7"/>
          <p:cNvSpPr txBox="1">
            <a:spLocks noGrp="1"/>
          </p:cNvSpPr>
          <p:nvPr>
            <p:ph type="sldNum" idx="12"/>
          </p:nvPr>
        </p:nvSpPr>
        <p:spPr>
          <a:xfrm>
            <a:off x="10654642" y="6517962"/>
            <a:ext cx="13534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2AE1C8-A512-4BAF-DC10-D4A5419337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63103" y="1074057"/>
            <a:ext cx="11863168" cy="54439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968A351-0E6A-6745-BC25-2C5A3C80518A}"/>
              </a:ext>
            </a:extLst>
          </p:cNvPr>
          <p:cNvSpPr/>
          <p:nvPr/>
        </p:nvSpPr>
        <p:spPr>
          <a:xfrm>
            <a:off x="10962968" y="6325810"/>
            <a:ext cx="1045133" cy="202393"/>
          </a:xfrm>
          <a:prstGeom prst="rect">
            <a:avLst/>
          </a:prstGeom>
          <a:solidFill>
            <a:srgbClr val="ECF7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>
            <a:spLocks noGrp="1"/>
          </p:cNvSpPr>
          <p:nvPr>
            <p:ph type="title"/>
          </p:nvPr>
        </p:nvSpPr>
        <p:spPr>
          <a:xfrm>
            <a:off x="163103" y="263301"/>
            <a:ext cx="11844998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 lang="en-US" dirty="0"/>
              <a:t>CLASS DIAGRAM</a:t>
            </a:r>
            <a:endParaRPr dirty="0"/>
          </a:p>
        </p:txBody>
      </p:sp>
      <p:sp>
        <p:nvSpPr>
          <p:cNvPr id="145" name="Google Shape;145;p8"/>
          <p:cNvSpPr txBox="1">
            <a:spLocks noGrp="1"/>
          </p:cNvSpPr>
          <p:nvPr>
            <p:ph type="body" idx="1"/>
          </p:nvPr>
        </p:nvSpPr>
        <p:spPr>
          <a:xfrm>
            <a:off x="165729" y="1074057"/>
            <a:ext cx="11844997" cy="5411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76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endParaRPr sz="2400" dirty="0"/>
          </a:p>
        </p:txBody>
      </p:sp>
      <p:sp>
        <p:nvSpPr>
          <p:cNvPr id="146" name="Google Shape;146;p8"/>
          <p:cNvSpPr txBox="1">
            <a:spLocks noGrp="1"/>
          </p:cNvSpPr>
          <p:nvPr>
            <p:ph type="sldNum" idx="12"/>
          </p:nvPr>
        </p:nvSpPr>
        <p:spPr>
          <a:xfrm>
            <a:off x="10654642" y="6517962"/>
            <a:ext cx="13534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6895D1-7F31-698E-EEBD-888BAD2EBE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81273" y="1074057"/>
            <a:ext cx="11826827" cy="54439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8A8D900-5A75-E1DC-2619-4D182FE38908}"/>
              </a:ext>
            </a:extLst>
          </p:cNvPr>
          <p:cNvSpPr/>
          <p:nvPr/>
        </p:nvSpPr>
        <p:spPr>
          <a:xfrm>
            <a:off x="10962968" y="6325810"/>
            <a:ext cx="1045133" cy="202393"/>
          </a:xfrm>
          <a:prstGeom prst="rect">
            <a:avLst/>
          </a:prstGeom>
          <a:solidFill>
            <a:srgbClr val="ECF7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>
            <a:spLocks noGrp="1"/>
          </p:cNvSpPr>
          <p:nvPr>
            <p:ph type="title"/>
          </p:nvPr>
        </p:nvSpPr>
        <p:spPr>
          <a:xfrm>
            <a:off x="163103" y="263301"/>
            <a:ext cx="11844998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 lang="en-US" dirty="0"/>
              <a:t>SEQUENCE DIAGRAM</a:t>
            </a:r>
            <a:endParaRPr dirty="0"/>
          </a:p>
        </p:txBody>
      </p:sp>
      <p:sp>
        <p:nvSpPr>
          <p:cNvPr id="153" name="Google Shape;153;p9"/>
          <p:cNvSpPr txBox="1">
            <a:spLocks noGrp="1"/>
          </p:cNvSpPr>
          <p:nvPr>
            <p:ph type="body" idx="1"/>
          </p:nvPr>
        </p:nvSpPr>
        <p:spPr>
          <a:xfrm>
            <a:off x="165729" y="1074057"/>
            <a:ext cx="11844997" cy="5411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76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endParaRPr sz="2400" dirty="0"/>
          </a:p>
        </p:txBody>
      </p:sp>
      <p:sp>
        <p:nvSpPr>
          <p:cNvPr id="154" name="Google Shape;154;p9"/>
          <p:cNvSpPr txBox="1">
            <a:spLocks noGrp="1"/>
          </p:cNvSpPr>
          <p:nvPr>
            <p:ph type="sldNum" idx="12"/>
          </p:nvPr>
        </p:nvSpPr>
        <p:spPr>
          <a:xfrm>
            <a:off x="10654642" y="6517962"/>
            <a:ext cx="13534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072772-E1E5-4033-9328-7BA4A79447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63103" y="1074057"/>
            <a:ext cx="11863168" cy="54439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BD5B418-F26A-1412-FF3E-3078185BEF04}"/>
              </a:ext>
            </a:extLst>
          </p:cNvPr>
          <p:cNvSpPr/>
          <p:nvPr/>
        </p:nvSpPr>
        <p:spPr>
          <a:xfrm>
            <a:off x="10962968" y="6325810"/>
            <a:ext cx="1045133" cy="202393"/>
          </a:xfrm>
          <a:prstGeom prst="rect">
            <a:avLst/>
          </a:prstGeom>
          <a:solidFill>
            <a:srgbClr val="ECF7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163103" y="263301"/>
            <a:ext cx="11844998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 lang="en-US" dirty="0"/>
              <a:t>EXPERIENCE LEARNED</a:t>
            </a:r>
            <a:endParaRPr dirty="0"/>
          </a:p>
        </p:txBody>
      </p:sp>
      <p:sp>
        <p:nvSpPr>
          <p:cNvPr id="185" name="Google Shape;185;p13"/>
          <p:cNvSpPr txBox="1">
            <a:spLocks noGrp="1"/>
          </p:cNvSpPr>
          <p:nvPr>
            <p:ph type="body" idx="1"/>
          </p:nvPr>
        </p:nvSpPr>
        <p:spPr>
          <a:xfrm>
            <a:off x="165729" y="1074057"/>
            <a:ext cx="11844997" cy="5411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76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endParaRPr sz="2400" dirty="0"/>
          </a:p>
        </p:txBody>
      </p:sp>
      <p:sp>
        <p:nvSpPr>
          <p:cNvPr id="186" name="Google Shape;186;p13"/>
          <p:cNvSpPr txBox="1">
            <a:spLocks noGrp="1"/>
          </p:cNvSpPr>
          <p:nvPr>
            <p:ph type="sldNum" idx="12"/>
          </p:nvPr>
        </p:nvSpPr>
        <p:spPr>
          <a:xfrm>
            <a:off x="10654642" y="6517962"/>
            <a:ext cx="13534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BAD318-A351-6168-6659-A508F33970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81273" y="1074057"/>
            <a:ext cx="11826827" cy="54439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CFEDA20-C2FC-B4A6-B7AA-9B9EC4647DD7}"/>
              </a:ext>
            </a:extLst>
          </p:cNvPr>
          <p:cNvSpPr/>
          <p:nvPr/>
        </p:nvSpPr>
        <p:spPr>
          <a:xfrm>
            <a:off x="10962968" y="6325810"/>
            <a:ext cx="1045133" cy="202393"/>
          </a:xfrm>
          <a:prstGeom prst="rect">
            <a:avLst/>
          </a:prstGeom>
          <a:solidFill>
            <a:srgbClr val="ECF7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40837" y="1664596"/>
            <a:ext cx="3310326" cy="3528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 txBox="1"/>
          <p:nvPr/>
        </p:nvSpPr>
        <p:spPr>
          <a:xfrm>
            <a:off x="314179" y="2644170"/>
            <a:ext cx="11563642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Q &amp; 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TCA-Slide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70</Words>
  <Application>Microsoft Office PowerPoint</Application>
  <PresentationFormat>Widescreen</PresentationFormat>
  <Paragraphs>37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Helvetica Neue</vt:lpstr>
      <vt:lpstr>Helvetica Neue Light</vt:lpstr>
      <vt:lpstr>Calibri</vt:lpstr>
      <vt:lpstr>Arial</vt:lpstr>
      <vt:lpstr>VTCA-SlideTheme</vt:lpstr>
      <vt:lpstr>FITPASS APP</vt:lpstr>
      <vt:lpstr>OBJECTIVES</vt:lpstr>
      <vt:lpstr>INTRODUCTION TO PROJECT</vt:lpstr>
      <vt:lpstr>CUSTOMER REQUIREMENTS</vt:lpstr>
      <vt:lpstr>USE CASE</vt:lpstr>
      <vt:lpstr>ACTIVITY DIAGRAM</vt:lpstr>
      <vt:lpstr>UI DESIGN</vt:lpstr>
      <vt:lpstr>CLASS DIAGRAM</vt:lpstr>
      <vt:lpstr>SEQUENCE DIAGRAM</vt:lpstr>
      <vt:lpstr>EXPERIENCE LEARNED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Name</dc:title>
  <dc:creator>sinhnx@vtc.edu.vn</dc:creator>
  <cp:lastModifiedBy>Rick Blaine</cp:lastModifiedBy>
  <cp:revision>4</cp:revision>
  <dcterms:created xsi:type="dcterms:W3CDTF">2019-05-17T12:57:33Z</dcterms:created>
  <dcterms:modified xsi:type="dcterms:W3CDTF">2026-05-27T11:38:08Z</dcterms:modified>
</cp:coreProperties>
</file>