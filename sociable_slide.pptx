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Barlow"/>
      <p:regular r:id="rId17"/>
    </p:embeddedFont>
    <p:embeddedFont>
      <p:font typeface="Barlow"/>
      <p:regular r:id="rId18"/>
    </p:embeddedFont>
    <p:embeddedFont>
      <p:font typeface="Barlow"/>
      <p:regular r:id="rId19"/>
    </p:embeddedFont>
    <p:embeddedFont>
      <p:font typeface="Barlow"/>
      <p:regular r:id="rId20"/>
    </p:embeddedFont>
    <p:embeddedFont>
      <p:font typeface="Montserrat"/>
      <p:regular r:id="rId21"/>
    </p:embeddedFont>
    <p:embeddedFont>
      <p:font typeface="Montserrat"/>
      <p:regular r:id="rId22"/>
    </p:embeddedFont>
    <p:embeddedFont>
      <p:font typeface="Montserrat"/>
      <p:regular r:id="rId23"/>
    </p:embeddedFont>
    <p:embeddedFont>
      <p:font typeface="Montserrat"/>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png"/><Relationship Id="rId2" Type="http://schemas.openxmlformats.org/officeDocument/2006/relationships/image" Target="../media/image-1005-2.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pn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png"/><Relationship Id="rId2"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png"/><Relationship Id="rId2" Type="http://schemas.openxmlformats.org/officeDocument/2006/relationships/image" Target="../media/image-1008-2.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9-1.png"/><Relationship Id="rId2" Type="http://schemas.openxmlformats.org/officeDocument/2006/relationships/image" Target="../media/image-1009-2.png"/><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0-1.png"/><Relationship Id="rId2" Type="http://schemas.openxmlformats.org/officeDocument/2006/relationships/image" Target="../media/image-1010-2.png"/><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1-1.png"/><Relationship Id="rId2" Type="http://schemas.openxmlformats.org/officeDocument/2006/relationships/image" Target="../media/image-1011-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4.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slideLayout" Target="../slideLayouts/slideLayout5.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image" Target="../media/image-5-4.png"/><Relationship Id="rId5" Type="http://schemas.openxmlformats.org/officeDocument/2006/relationships/image" Target="../media/image-5-5.svg"/><Relationship Id="rId6" Type="http://schemas.openxmlformats.org/officeDocument/2006/relationships/image" Target="../media/image-5-6.png"/><Relationship Id="rId7" Type="http://schemas.openxmlformats.org/officeDocument/2006/relationships/image" Target="../media/image-5-7.svg"/><Relationship Id="rId8" Type="http://schemas.openxmlformats.org/officeDocument/2006/relationships/image" Target="../media/image-5-8.png"/><Relationship Id="rId9" Type="http://schemas.openxmlformats.org/officeDocument/2006/relationships/image" Target="../media/image-5-9.svg"/><Relationship Id="rId10" Type="http://schemas.openxmlformats.org/officeDocument/2006/relationships/slideLayout" Target="../slideLayouts/slideLayout6.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slideLayout" Target="../slideLayouts/slideLayout7.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9.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0.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hyperlink" Target="https://sociableapp.web.app/" TargetMode="External"/><Relationship Id="rId1" Type="http://schemas.openxmlformats.org/officeDocument/2006/relationships/image" Target="../media/image-10-1.png"/><Relationship Id="rId3" Type="http://schemas.openxmlformats.org/officeDocument/2006/relationships/slideLayout" Target="../slideLayouts/slideLayout11.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869680" y="0"/>
            <a:ext cx="5760720" cy="8229600"/>
          </a:xfrm>
          <a:prstGeom prst="rect">
            <a:avLst/>
          </a:prstGeom>
        </p:spPr>
      </p:pic>
      <p:sp>
        <p:nvSpPr>
          <p:cNvPr id="3" name="Text 0"/>
          <p:cNvSpPr/>
          <p:nvPr/>
        </p:nvSpPr>
        <p:spPr>
          <a:xfrm>
            <a:off x="758309" y="1641634"/>
            <a:ext cx="7627382" cy="1425416"/>
          </a:xfrm>
          <a:prstGeom prst="rect">
            <a:avLst/>
          </a:prstGeom>
          <a:noFill/>
          <a:ln/>
        </p:spPr>
        <p:txBody>
          <a:bodyPr wrap="square" lIns="0" tIns="0" rIns="0" bIns="0" rtlCol="0" anchor="t"/>
          <a:lstStyle/>
          <a:p>
            <a:pPr algn="l" indent="0" marL="0">
              <a:lnSpc>
                <a:spcPts val="5600"/>
              </a:lnSpc>
              <a:buNone/>
            </a:pPr>
            <a:r>
              <a:rPr lang="en-US" sz="4450" b="1" dirty="0">
                <a:solidFill>
                  <a:srgbClr val="2E3C4E"/>
                </a:solidFill>
                <a:latin typeface="Barlow Bold" pitchFamily="34" charset="0"/>
                <a:ea typeface="Barlow Bold" pitchFamily="34" charset="-122"/>
                <a:cs typeface="Barlow Bold" pitchFamily="34" charset="-120"/>
              </a:rPr>
              <a:t>Sociable: Mở Khóa Cộng Đồng Số Thế Hệ Mới</a:t>
            </a:r>
            <a:endParaRPr lang="en-US" sz="4450" dirty="0"/>
          </a:p>
        </p:txBody>
      </p:sp>
      <p:sp>
        <p:nvSpPr>
          <p:cNvPr id="4" name="Text 1"/>
          <p:cNvSpPr/>
          <p:nvPr/>
        </p:nvSpPr>
        <p:spPr>
          <a:xfrm>
            <a:off x="758309" y="3391972"/>
            <a:ext cx="7627382" cy="346710"/>
          </a:xfrm>
          <a:prstGeom prst="rect">
            <a:avLst/>
          </a:prstGeom>
          <a:noFill/>
          <a:ln/>
        </p:spPr>
        <p:txBody>
          <a:bodyPr wrap="none" lIns="0" tIns="0" rIns="0" bIns="0" rtlCol="0" anchor="t"/>
          <a:lstStyle/>
          <a:p>
            <a:pPr algn="l" indent="0" marL="0">
              <a:lnSpc>
                <a:spcPts val="2700"/>
              </a:lnSpc>
              <a:buNone/>
            </a:pPr>
            <a:r>
              <a:rPr lang="en-US" sz="1700" i="1" dirty="0">
                <a:solidFill>
                  <a:srgbClr val="384653"/>
                </a:solidFill>
                <a:latin typeface="Montserrat" pitchFamily="34" charset="0"/>
                <a:ea typeface="Montserrat" pitchFamily="34" charset="-122"/>
                <a:cs typeface="Montserrat" pitchFamily="34" charset="-120"/>
              </a:rPr>
              <a:t>Chúng tôi biết trải nghiệm của bạn là quan trọng.</a:t>
            </a:r>
            <a:endParaRPr lang="en-US" sz="1700" dirty="0"/>
          </a:p>
        </p:txBody>
      </p:sp>
      <p:sp>
        <p:nvSpPr>
          <p:cNvPr id="5" name="Text 2"/>
          <p:cNvSpPr/>
          <p:nvPr/>
        </p:nvSpPr>
        <p:spPr>
          <a:xfrm>
            <a:off x="1083231" y="4226123"/>
            <a:ext cx="7302460" cy="346710"/>
          </a:xfrm>
          <a:prstGeom prst="rect">
            <a:avLst/>
          </a:prstGeom>
          <a:noFill/>
          <a:ln/>
        </p:spPr>
        <p:txBody>
          <a:bodyPr wrap="none" lIns="0" tIns="0" rIns="0" bIns="0" rtlCol="0" anchor="t"/>
          <a:lstStyle/>
          <a:p>
            <a:pPr algn="l" indent="0" marL="0">
              <a:lnSpc>
                <a:spcPts val="2700"/>
              </a:lnSpc>
              <a:buNone/>
            </a:pPr>
            <a:r>
              <a:rPr lang="en-US" sz="1700" b="1" dirty="0">
                <a:solidFill>
                  <a:srgbClr val="384653"/>
                </a:solidFill>
                <a:latin typeface="Montserrat" pitchFamily="34" charset="0"/>
                <a:ea typeface="Montserrat" pitchFamily="34" charset="-122"/>
                <a:cs typeface="Montserrat" pitchFamily="34" charset="-120"/>
              </a:rPr>
              <a:t>Little Squad - Đội ngũ phát triển:</a:t>
            </a:r>
            <a:endParaRPr lang="en-US" sz="1700" dirty="0"/>
          </a:p>
        </p:txBody>
      </p:sp>
      <p:sp>
        <p:nvSpPr>
          <p:cNvPr id="6" name="Text 3"/>
          <p:cNvSpPr/>
          <p:nvPr/>
        </p:nvSpPr>
        <p:spPr>
          <a:xfrm>
            <a:off x="1083231" y="4816554"/>
            <a:ext cx="7302460" cy="346710"/>
          </a:xfrm>
          <a:prstGeom prst="rect">
            <a:avLst/>
          </a:prstGeom>
          <a:noFill/>
          <a:ln/>
        </p:spPr>
        <p:txBody>
          <a:bodyPr wrap="none" lIns="0" tIns="0" rIns="0" bIns="0" rtlCol="0" anchor="t"/>
          <a:lstStyle/>
          <a:p>
            <a:pPr algn="l" indent="0" marL="0">
              <a:lnSpc>
                <a:spcPts val="2700"/>
              </a:lnSpc>
              <a:buNone/>
            </a:pPr>
            <a:r>
              <a:rPr lang="en-US" sz="1700" dirty="0">
                <a:solidFill>
                  <a:srgbClr val="384653"/>
                </a:solidFill>
                <a:latin typeface="Montserrat" pitchFamily="34" charset="0"/>
                <a:ea typeface="Montserrat" pitchFamily="34" charset="-122"/>
                <a:cs typeface="Montserrat" pitchFamily="34" charset="-120"/>
              </a:rPr>
              <a:t>Nguyễn Minh Tấn - Team Leader</a:t>
            </a:r>
            <a:endParaRPr lang="en-US" sz="1700" dirty="0"/>
          </a:p>
        </p:txBody>
      </p:sp>
      <p:sp>
        <p:nvSpPr>
          <p:cNvPr id="7" name="Text 4"/>
          <p:cNvSpPr/>
          <p:nvPr/>
        </p:nvSpPr>
        <p:spPr>
          <a:xfrm>
            <a:off x="1083231" y="5406985"/>
            <a:ext cx="7302460" cy="346710"/>
          </a:xfrm>
          <a:prstGeom prst="rect">
            <a:avLst/>
          </a:prstGeom>
          <a:noFill/>
          <a:ln/>
        </p:spPr>
        <p:txBody>
          <a:bodyPr wrap="none" lIns="0" tIns="0" rIns="0" bIns="0" rtlCol="0" anchor="t"/>
          <a:lstStyle/>
          <a:p>
            <a:pPr algn="l" indent="0" marL="0">
              <a:lnSpc>
                <a:spcPts val="2700"/>
              </a:lnSpc>
              <a:buNone/>
            </a:pPr>
            <a:r>
              <a:rPr lang="en-US" sz="1700" dirty="0">
                <a:solidFill>
                  <a:srgbClr val="384653"/>
                </a:solidFill>
                <a:latin typeface="Montserrat" pitchFamily="34" charset="0"/>
                <a:ea typeface="Montserrat" pitchFamily="34" charset="-122"/>
                <a:cs typeface="Montserrat" pitchFamily="34" charset="-120"/>
              </a:rPr>
              <a:t>Nguyễn Thái Hào - Developer</a:t>
            </a:r>
            <a:endParaRPr lang="en-US" sz="1700" dirty="0"/>
          </a:p>
        </p:txBody>
      </p:sp>
      <p:sp>
        <p:nvSpPr>
          <p:cNvPr id="8" name="Text 5"/>
          <p:cNvSpPr/>
          <p:nvPr/>
        </p:nvSpPr>
        <p:spPr>
          <a:xfrm>
            <a:off x="1083231" y="5997416"/>
            <a:ext cx="7302460" cy="346710"/>
          </a:xfrm>
          <a:prstGeom prst="rect">
            <a:avLst/>
          </a:prstGeom>
          <a:noFill/>
          <a:ln/>
        </p:spPr>
        <p:txBody>
          <a:bodyPr wrap="none" lIns="0" tIns="0" rIns="0" bIns="0" rtlCol="0" anchor="t"/>
          <a:lstStyle/>
          <a:p>
            <a:pPr algn="l" indent="0" marL="0">
              <a:lnSpc>
                <a:spcPts val="2700"/>
              </a:lnSpc>
              <a:buNone/>
            </a:pPr>
            <a:r>
              <a:rPr lang="en-US" sz="1700" dirty="0">
                <a:solidFill>
                  <a:srgbClr val="384653"/>
                </a:solidFill>
                <a:latin typeface="Montserrat" pitchFamily="34" charset="0"/>
                <a:ea typeface="Montserrat" pitchFamily="34" charset="-122"/>
                <a:cs typeface="Montserrat" pitchFamily="34" charset="-120"/>
              </a:rPr>
              <a:t>Nguyễn Trung Kiên -Developer</a:t>
            </a:r>
            <a:endParaRPr lang="en-US" sz="1700" dirty="0"/>
          </a:p>
        </p:txBody>
      </p:sp>
      <p:sp>
        <p:nvSpPr>
          <p:cNvPr id="9" name="Shape 6"/>
          <p:cNvSpPr/>
          <p:nvPr/>
        </p:nvSpPr>
        <p:spPr>
          <a:xfrm>
            <a:off x="758309" y="3982402"/>
            <a:ext cx="30480" cy="2605445"/>
          </a:xfrm>
          <a:prstGeom prst="rect">
            <a:avLst/>
          </a:prstGeom>
          <a:solidFill>
            <a:srgbClr val="75BAE6"/>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58309" y="882253"/>
            <a:ext cx="3661886" cy="356235"/>
          </a:xfrm>
          <a:prstGeom prst="rect">
            <a:avLst/>
          </a:prstGeom>
          <a:noFill/>
          <a:ln/>
        </p:spPr>
        <p:txBody>
          <a:bodyPr wrap="none" lIns="0" tIns="0" rIns="0" bIns="0" rtlCol="0" anchor="t"/>
          <a:lstStyle/>
          <a:p>
            <a:pPr algn="l" indent="0" marL="0">
              <a:lnSpc>
                <a:spcPts val="2800"/>
              </a:lnSpc>
              <a:buNone/>
            </a:pPr>
            <a:r>
              <a:rPr lang="en-US" sz="2200" b="1" dirty="0">
                <a:solidFill>
                  <a:srgbClr val="2E3C4E"/>
                </a:solidFill>
                <a:latin typeface="Barlow Bold" pitchFamily="34" charset="0"/>
                <a:ea typeface="Barlow Bold" pitchFamily="34" charset="-122"/>
                <a:cs typeface="Barlow Bold" pitchFamily="34" charset="-120"/>
              </a:rPr>
              <a:t>Chương 1 / Công Nghệ Cốt Lõi</a:t>
            </a:r>
            <a:endParaRPr lang="en-US" sz="2200" dirty="0"/>
          </a:p>
        </p:txBody>
      </p:sp>
      <p:sp>
        <p:nvSpPr>
          <p:cNvPr id="3" name="Text 1"/>
          <p:cNvSpPr/>
          <p:nvPr/>
        </p:nvSpPr>
        <p:spPr>
          <a:xfrm>
            <a:off x="758309" y="1563410"/>
            <a:ext cx="11403211" cy="1425416"/>
          </a:xfrm>
          <a:prstGeom prst="rect">
            <a:avLst/>
          </a:prstGeom>
          <a:noFill/>
          <a:ln/>
        </p:spPr>
        <p:txBody>
          <a:bodyPr wrap="none" lIns="0" tIns="0" rIns="0" bIns="0" rtlCol="0" anchor="t"/>
          <a:lstStyle/>
          <a:p>
            <a:pPr algn="l" indent="0" marL="0">
              <a:lnSpc>
                <a:spcPts val="11200"/>
              </a:lnSpc>
              <a:buNone/>
            </a:pPr>
            <a:r>
              <a:rPr lang="en-US" sz="8950" b="1" dirty="0">
                <a:solidFill>
                  <a:srgbClr val="2E3C4E"/>
                </a:solidFill>
                <a:latin typeface="Barlow Bold" pitchFamily="34" charset="0"/>
                <a:ea typeface="Barlow Bold" pitchFamily="34" charset="-122"/>
                <a:cs typeface="Barlow Bold" pitchFamily="34" charset="-120"/>
              </a:rPr>
              <a:t>Flutter - Firebase</a:t>
            </a:r>
            <a:endParaRPr lang="en-US" sz="8950" dirty="0"/>
          </a:p>
        </p:txBody>
      </p:sp>
      <p:sp>
        <p:nvSpPr>
          <p:cNvPr id="4" name="Shape 2"/>
          <p:cNvSpPr/>
          <p:nvPr/>
        </p:nvSpPr>
        <p:spPr>
          <a:xfrm>
            <a:off x="758309" y="3313748"/>
            <a:ext cx="4226838" cy="4033480"/>
          </a:xfrm>
          <a:prstGeom prst="roundRect">
            <a:avLst>
              <a:gd name="adj" fmla="val 8057"/>
            </a:avLst>
          </a:prstGeom>
          <a:solidFill>
            <a:srgbClr val="D4E9F7"/>
          </a:solidFill>
          <a:ln w="7620">
            <a:solidFill>
              <a:srgbClr val="1E2C3B"/>
            </a:solidFill>
            <a:prstDash val="solid"/>
          </a:ln>
        </p:spPr>
      </p:sp>
      <p:sp>
        <p:nvSpPr>
          <p:cNvPr id="5" name="Shape 3"/>
          <p:cNvSpPr/>
          <p:nvPr/>
        </p:nvSpPr>
        <p:spPr>
          <a:xfrm>
            <a:off x="982504" y="3537942"/>
            <a:ext cx="649962" cy="649962"/>
          </a:xfrm>
          <a:prstGeom prst="roundRect">
            <a:avLst>
              <a:gd name="adj" fmla="val 14067108"/>
            </a:avLst>
          </a:prstGeom>
          <a:solidFill>
            <a:srgbClr val="1E2C3B"/>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61217" y="3716655"/>
            <a:ext cx="292418" cy="292418"/>
          </a:xfrm>
          <a:prstGeom prst="rect">
            <a:avLst/>
          </a:prstGeom>
        </p:spPr>
      </p:pic>
      <p:sp>
        <p:nvSpPr>
          <p:cNvPr id="7" name="Text 4"/>
          <p:cNvSpPr/>
          <p:nvPr/>
        </p:nvSpPr>
        <p:spPr>
          <a:xfrm>
            <a:off x="982504" y="4404479"/>
            <a:ext cx="3778448" cy="855107"/>
          </a:xfrm>
          <a:prstGeom prst="rect">
            <a:avLst/>
          </a:prstGeom>
          <a:noFill/>
          <a:ln/>
        </p:spPr>
        <p:txBody>
          <a:bodyPr wrap="square" lIns="0" tIns="0" rIns="0" bIns="0" rtlCol="0" anchor="t"/>
          <a:lstStyle/>
          <a:p>
            <a:pPr algn="l" indent="0" marL="0">
              <a:lnSpc>
                <a:spcPts val="3350"/>
              </a:lnSpc>
              <a:buNone/>
            </a:pPr>
            <a:r>
              <a:rPr lang="en-US" sz="2650" b="1" dirty="0">
                <a:solidFill>
                  <a:srgbClr val="384653"/>
                </a:solidFill>
                <a:latin typeface="Barlow Bold" pitchFamily="34" charset="0"/>
                <a:ea typeface="Barlow Bold" pitchFamily="34" charset="-122"/>
                <a:cs typeface="Barlow Bold" pitchFamily="34" charset="-120"/>
              </a:rPr>
              <a:t>Trải Nghiệm Gốc, Một Mã Nguồn</a:t>
            </a:r>
            <a:endParaRPr lang="en-US" sz="2650" dirty="0"/>
          </a:p>
        </p:txBody>
      </p:sp>
      <p:sp>
        <p:nvSpPr>
          <p:cNvPr id="8" name="Text 5"/>
          <p:cNvSpPr/>
          <p:nvPr/>
        </p:nvSpPr>
        <p:spPr>
          <a:xfrm>
            <a:off x="982504" y="5389483"/>
            <a:ext cx="3778448" cy="1040130"/>
          </a:xfrm>
          <a:prstGeom prst="rect">
            <a:avLst/>
          </a:prstGeom>
          <a:noFill/>
          <a:ln/>
        </p:spPr>
        <p:txBody>
          <a:bodyPr wrap="square" lIns="0" tIns="0" rIns="0" bIns="0" rtlCol="0" anchor="t"/>
          <a:lstStyle/>
          <a:p>
            <a:pPr algn="l" indent="0" marL="0">
              <a:lnSpc>
                <a:spcPts val="2700"/>
              </a:lnSpc>
              <a:buNone/>
            </a:pPr>
            <a:r>
              <a:rPr lang="en-US" sz="1700" dirty="0">
                <a:solidFill>
                  <a:srgbClr val="384653"/>
                </a:solidFill>
                <a:latin typeface="Montserrat" pitchFamily="34" charset="0"/>
                <a:ea typeface="Montserrat" pitchFamily="34" charset="-122"/>
                <a:cs typeface="Montserrat" pitchFamily="34" charset="-120"/>
              </a:rPr>
              <a:t>Tận dụng Flutter 3.24+ để tạo ra ứng dụng hiệu suất cao, được biên dịch chính trên iOS và Android</a:t>
            </a:r>
            <a:endParaRPr lang="en-US" sz="1700" dirty="0"/>
          </a:p>
        </p:txBody>
      </p:sp>
      <p:sp>
        <p:nvSpPr>
          <p:cNvPr id="9" name="Shape 6"/>
          <p:cNvSpPr/>
          <p:nvPr/>
        </p:nvSpPr>
        <p:spPr>
          <a:xfrm>
            <a:off x="5201722" y="3313748"/>
            <a:ext cx="4226838" cy="4033480"/>
          </a:xfrm>
          <a:prstGeom prst="roundRect">
            <a:avLst>
              <a:gd name="adj" fmla="val 8057"/>
            </a:avLst>
          </a:prstGeom>
          <a:solidFill>
            <a:srgbClr val="D4E9F7"/>
          </a:solidFill>
          <a:ln w="7620">
            <a:solidFill>
              <a:srgbClr val="1E2C3B"/>
            </a:solidFill>
            <a:prstDash val="solid"/>
          </a:ln>
        </p:spPr>
      </p:sp>
      <p:sp>
        <p:nvSpPr>
          <p:cNvPr id="10" name="Shape 7"/>
          <p:cNvSpPr/>
          <p:nvPr/>
        </p:nvSpPr>
        <p:spPr>
          <a:xfrm>
            <a:off x="5425916" y="3537942"/>
            <a:ext cx="649962" cy="649962"/>
          </a:xfrm>
          <a:prstGeom prst="roundRect">
            <a:avLst>
              <a:gd name="adj" fmla="val 14067108"/>
            </a:avLst>
          </a:prstGeom>
          <a:solidFill>
            <a:srgbClr val="1E2C3B"/>
          </a:solidFill>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04629" y="3716655"/>
            <a:ext cx="292418" cy="292418"/>
          </a:xfrm>
          <a:prstGeom prst="rect">
            <a:avLst/>
          </a:prstGeom>
        </p:spPr>
      </p:pic>
      <p:sp>
        <p:nvSpPr>
          <p:cNvPr id="12" name="Text 8"/>
          <p:cNvSpPr/>
          <p:nvPr/>
        </p:nvSpPr>
        <p:spPr>
          <a:xfrm>
            <a:off x="5425916" y="4404479"/>
            <a:ext cx="3778448" cy="855107"/>
          </a:xfrm>
          <a:prstGeom prst="rect">
            <a:avLst/>
          </a:prstGeom>
          <a:noFill/>
          <a:ln/>
        </p:spPr>
        <p:txBody>
          <a:bodyPr wrap="square" lIns="0" tIns="0" rIns="0" bIns="0" rtlCol="0" anchor="t"/>
          <a:lstStyle/>
          <a:p>
            <a:pPr algn="l" indent="0" marL="0">
              <a:lnSpc>
                <a:spcPts val="3350"/>
              </a:lnSpc>
              <a:buNone/>
            </a:pPr>
            <a:r>
              <a:rPr lang="en-US" sz="2650" b="1" dirty="0">
                <a:solidFill>
                  <a:srgbClr val="384653"/>
                </a:solidFill>
                <a:latin typeface="Barlow Bold" pitchFamily="34" charset="0"/>
                <a:ea typeface="Barlow Bold" pitchFamily="34" charset="-122"/>
                <a:cs typeface="Barlow Bold" pitchFamily="34" charset="-120"/>
              </a:rPr>
              <a:t>Hệ sinh thái tuyệt vời từ Google</a:t>
            </a:r>
            <a:endParaRPr lang="en-US" sz="2650" dirty="0"/>
          </a:p>
        </p:txBody>
      </p:sp>
      <p:sp>
        <p:nvSpPr>
          <p:cNvPr id="13" name="Text 9"/>
          <p:cNvSpPr/>
          <p:nvPr/>
        </p:nvSpPr>
        <p:spPr>
          <a:xfrm>
            <a:off x="5425916" y="5389483"/>
            <a:ext cx="3778448" cy="1040130"/>
          </a:xfrm>
          <a:prstGeom prst="rect">
            <a:avLst/>
          </a:prstGeom>
          <a:noFill/>
          <a:ln/>
        </p:spPr>
        <p:txBody>
          <a:bodyPr wrap="square" lIns="0" tIns="0" rIns="0" bIns="0" rtlCol="0" anchor="t"/>
          <a:lstStyle/>
          <a:p>
            <a:pPr algn="l" indent="0" marL="0">
              <a:lnSpc>
                <a:spcPts val="2700"/>
              </a:lnSpc>
              <a:buNone/>
            </a:pPr>
            <a:r>
              <a:rPr lang="en-US" sz="1700" dirty="0">
                <a:solidFill>
                  <a:srgbClr val="384653"/>
                </a:solidFill>
                <a:latin typeface="Montserrat" pitchFamily="34" charset="0"/>
                <a:ea typeface="Montserrat" pitchFamily="34" charset="-122"/>
                <a:cs typeface="Montserrat" pitchFamily="34" charset="-120"/>
              </a:rPr>
              <a:t>Kết hợp hoàn hảo mạnh mẽ Flutter - Firebase. tăng tốc trực quan hoá. giảm thiếu lệch hướng</a:t>
            </a:r>
            <a:endParaRPr lang="en-US" sz="1700" dirty="0"/>
          </a:p>
        </p:txBody>
      </p:sp>
      <p:sp>
        <p:nvSpPr>
          <p:cNvPr id="14" name="Shape 10"/>
          <p:cNvSpPr/>
          <p:nvPr/>
        </p:nvSpPr>
        <p:spPr>
          <a:xfrm>
            <a:off x="9645134" y="3313748"/>
            <a:ext cx="4226957" cy="4033480"/>
          </a:xfrm>
          <a:prstGeom prst="roundRect">
            <a:avLst>
              <a:gd name="adj" fmla="val 8057"/>
            </a:avLst>
          </a:prstGeom>
          <a:solidFill>
            <a:srgbClr val="D4E9F7"/>
          </a:solidFill>
          <a:ln w="7620">
            <a:solidFill>
              <a:srgbClr val="1E2C3B"/>
            </a:solidFill>
            <a:prstDash val="solid"/>
          </a:ln>
        </p:spPr>
      </p:sp>
      <p:sp>
        <p:nvSpPr>
          <p:cNvPr id="15" name="Shape 11"/>
          <p:cNvSpPr/>
          <p:nvPr/>
        </p:nvSpPr>
        <p:spPr>
          <a:xfrm>
            <a:off x="9869329" y="3537942"/>
            <a:ext cx="649962" cy="649962"/>
          </a:xfrm>
          <a:prstGeom prst="roundRect">
            <a:avLst>
              <a:gd name="adj" fmla="val 14067108"/>
            </a:avLst>
          </a:prstGeom>
          <a:solidFill>
            <a:srgbClr val="1E2C3B"/>
          </a:solidFill>
          <a:ln/>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048042" y="3716655"/>
            <a:ext cx="292418" cy="292418"/>
          </a:xfrm>
          <a:prstGeom prst="rect">
            <a:avLst/>
          </a:prstGeom>
        </p:spPr>
      </p:pic>
      <p:sp>
        <p:nvSpPr>
          <p:cNvPr id="17" name="Text 12"/>
          <p:cNvSpPr/>
          <p:nvPr/>
        </p:nvSpPr>
        <p:spPr>
          <a:xfrm>
            <a:off x="9869329" y="4404479"/>
            <a:ext cx="3778568" cy="855107"/>
          </a:xfrm>
          <a:prstGeom prst="rect">
            <a:avLst/>
          </a:prstGeom>
          <a:noFill/>
          <a:ln/>
        </p:spPr>
        <p:txBody>
          <a:bodyPr wrap="square" lIns="0" tIns="0" rIns="0" bIns="0" rtlCol="0" anchor="t"/>
          <a:lstStyle/>
          <a:p>
            <a:pPr algn="l" indent="0" marL="0">
              <a:lnSpc>
                <a:spcPts val="3350"/>
              </a:lnSpc>
              <a:buNone/>
            </a:pPr>
            <a:r>
              <a:rPr lang="en-US" sz="2650" b="1" dirty="0">
                <a:solidFill>
                  <a:srgbClr val="384653"/>
                </a:solidFill>
                <a:latin typeface="Barlow Bold" pitchFamily="34" charset="0"/>
                <a:ea typeface="Barlow Bold" pitchFamily="34" charset="-122"/>
                <a:cs typeface="Barlow Bold" pitchFamily="34" charset="-120"/>
              </a:rPr>
              <a:t>Kiểm Soát Giao Diện Hoàn Hảo Từng Pixel</a:t>
            </a:r>
            <a:endParaRPr lang="en-US" sz="2650" dirty="0"/>
          </a:p>
        </p:txBody>
      </p:sp>
      <p:sp>
        <p:nvSpPr>
          <p:cNvPr id="18" name="Text 13"/>
          <p:cNvSpPr/>
          <p:nvPr/>
        </p:nvSpPr>
        <p:spPr>
          <a:xfrm>
            <a:off x="9869329" y="5389483"/>
            <a:ext cx="3778568" cy="1733550"/>
          </a:xfrm>
          <a:prstGeom prst="rect">
            <a:avLst/>
          </a:prstGeom>
          <a:noFill/>
          <a:ln/>
        </p:spPr>
        <p:txBody>
          <a:bodyPr wrap="square" lIns="0" tIns="0" rIns="0" bIns="0" rtlCol="0" anchor="t"/>
          <a:lstStyle/>
          <a:p>
            <a:pPr algn="l" indent="0" marL="0">
              <a:lnSpc>
                <a:spcPts val="2700"/>
              </a:lnSpc>
              <a:buNone/>
            </a:pPr>
            <a:r>
              <a:rPr lang="en-US" sz="1700" dirty="0">
                <a:solidFill>
                  <a:srgbClr val="384653"/>
                </a:solidFill>
                <a:latin typeface="Montserrat" pitchFamily="34" charset="0"/>
                <a:ea typeface="Montserrat" pitchFamily="34" charset="-122"/>
                <a:cs typeface="Montserrat" pitchFamily="34" charset="-120"/>
              </a:rPr>
              <a:t>Sử dụng widget phong phú của Flutter để tạo ra giao diện người dùng tùy chỉnh, hiện đại và có khả năng phản hồi cao, nhất quán trên tất cả các nền tảng.</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58309" y="665083"/>
            <a:ext cx="3991094" cy="356235"/>
          </a:xfrm>
          <a:prstGeom prst="rect">
            <a:avLst/>
          </a:prstGeom>
          <a:noFill/>
          <a:ln/>
        </p:spPr>
        <p:txBody>
          <a:bodyPr wrap="none" lIns="0" tIns="0" rIns="0" bIns="0" rtlCol="0" anchor="t"/>
          <a:lstStyle/>
          <a:p>
            <a:pPr algn="l" indent="0" marL="0">
              <a:lnSpc>
                <a:spcPts val="2800"/>
              </a:lnSpc>
              <a:buNone/>
            </a:pPr>
            <a:r>
              <a:rPr lang="en-US" sz="2200" b="1" dirty="0">
                <a:solidFill>
                  <a:srgbClr val="2E3C4E"/>
                </a:solidFill>
                <a:latin typeface="Barlow Bold" pitchFamily="34" charset="0"/>
                <a:ea typeface="Barlow Bold" pitchFamily="34" charset="-122"/>
                <a:cs typeface="Barlow Bold" pitchFamily="34" charset="-120"/>
              </a:rPr>
              <a:t>Chương 2 / Tập Trung Tính Năng</a:t>
            </a:r>
            <a:endParaRPr lang="en-US" sz="2200" dirty="0"/>
          </a:p>
        </p:txBody>
      </p:sp>
      <p:sp>
        <p:nvSpPr>
          <p:cNvPr id="3" name="Text 1"/>
          <p:cNvSpPr/>
          <p:nvPr/>
        </p:nvSpPr>
        <p:spPr>
          <a:xfrm>
            <a:off x="758309" y="1107877"/>
            <a:ext cx="9546669" cy="570071"/>
          </a:xfrm>
          <a:prstGeom prst="rect">
            <a:avLst/>
          </a:prstGeom>
          <a:noFill/>
          <a:ln/>
        </p:spPr>
        <p:txBody>
          <a:bodyPr wrap="none" lIns="0" tIns="0" rIns="0" bIns="0" rtlCol="0" anchor="t"/>
          <a:lstStyle/>
          <a:p>
            <a:pPr algn="l" indent="0" marL="0">
              <a:lnSpc>
                <a:spcPts val="4450"/>
              </a:lnSpc>
              <a:buNone/>
            </a:pPr>
            <a:r>
              <a:rPr lang="en-US" sz="3550" b="1" dirty="0">
                <a:solidFill>
                  <a:srgbClr val="2E3C4E"/>
                </a:solidFill>
                <a:latin typeface="Barlow Bold" pitchFamily="34" charset="0"/>
                <a:ea typeface="Barlow Bold" pitchFamily="34" charset="-122"/>
                <a:cs typeface="Barlow Bold" pitchFamily="34" charset="-120"/>
              </a:rPr>
              <a:t>Sociable: Trung Tâm Tương Tác Chất Lượng Cao</a:t>
            </a:r>
            <a:endParaRPr lang="en-US" sz="3550" dirty="0"/>
          </a:p>
        </p:txBody>
      </p:sp>
      <p:pic>
        <p:nvPicPr>
          <p:cNvPr id="4" name="Image 0" descr="preencoded.png">    </p:cNvPr>
          <p:cNvPicPr>
            <a:picLocks noChangeAspect="1"/>
          </p:cNvPicPr>
          <p:nvPr/>
        </p:nvPicPr>
        <p:blipFill>
          <a:blip r:embed="rId1"/>
          <a:stretch>
            <a:fillRect/>
          </a:stretch>
        </p:blipFill>
        <p:spPr>
          <a:xfrm>
            <a:off x="765929" y="2142649"/>
            <a:ext cx="4250650" cy="2599849"/>
          </a:xfrm>
          <a:prstGeom prst="rect">
            <a:avLst/>
          </a:prstGeom>
        </p:spPr>
      </p:pic>
      <p:pic>
        <p:nvPicPr>
          <p:cNvPr id="5" name="Image 1" descr="preencoded.png">    </p:cNvPr>
          <p:cNvPicPr>
            <a:picLocks noChangeAspect="1"/>
          </p:cNvPicPr>
          <p:nvPr/>
        </p:nvPicPr>
        <p:blipFill>
          <a:blip r:embed="rId2"/>
          <a:stretch>
            <a:fillRect/>
          </a:stretch>
        </p:blipFill>
        <p:spPr>
          <a:xfrm>
            <a:off x="5189815" y="2142649"/>
            <a:ext cx="4250650" cy="2599849"/>
          </a:xfrm>
          <a:prstGeom prst="rect">
            <a:avLst/>
          </a:prstGeom>
        </p:spPr>
      </p:pic>
      <p:pic>
        <p:nvPicPr>
          <p:cNvPr id="6" name="Image 2" descr="preencoded.png">    </p:cNvPr>
          <p:cNvPicPr>
            <a:picLocks noChangeAspect="1"/>
          </p:cNvPicPr>
          <p:nvPr/>
        </p:nvPicPr>
        <p:blipFill>
          <a:blip r:embed="rId3"/>
          <a:stretch>
            <a:fillRect/>
          </a:stretch>
        </p:blipFill>
        <p:spPr>
          <a:xfrm>
            <a:off x="9613702" y="2142649"/>
            <a:ext cx="4250650" cy="2599849"/>
          </a:xfrm>
          <a:prstGeom prst="rect">
            <a:avLst/>
          </a:prstGeom>
        </p:spPr>
      </p:pic>
      <p:sp>
        <p:nvSpPr>
          <p:cNvPr id="7" name="Shape 2"/>
          <p:cNvSpPr/>
          <p:nvPr/>
        </p:nvSpPr>
        <p:spPr>
          <a:xfrm>
            <a:off x="758309" y="5125998"/>
            <a:ext cx="6448544" cy="2438400"/>
          </a:xfrm>
          <a:prstGeom prst="roundRect">
            <a:avLst>
              <a:gd name="adj" fmla="val 6000"/>
            </a:avLst>
          </a:prstGeom>
          <a:solidFill>
            <a:srgbClr val="FFFFFF"/>
          </a:solidFill>
          <a:ln w="30480">
            <a:solidFill>
              <a:srgbClr val="BACFDD"/>
            </a:solidFill>
            <a:prstDash val="solid"/>
          </a:ln>
        </p:spPr>
      </p:sp>
      <p:pic>
        <p:nvPicPr>
          <p:cNvPr id="8" name="Image 3" descr="preencoded.png">    </p:cNvPr>
          <p:cNvPicPr>
            <a:picLocks noChangeAspect="1"/>
          </p:cNvPicPr>
          <p:nvPr/>
        </p:nvPicPr>
        <p:blipFill>
          <a:blip r:embed="rId4"/>
          <a:stretch>
            <a:fillRect/>
          </a:stretch>
        </p:blipFill>
        <p:spPr>
          <a:xfrm>
            <a:off x="727829" y="5125998"/>
            <a:ext cx="121920" cy="2438400"/>
          </a:xfrm>
          <a:prstGeom prst="rect">
            <a:avLst/>
          </a:prstGeom>
        </p:spPr>
      </p:pic>
      <p:sp>
        <p:nvSpPr>
          <p:cNvPr id="9" name="Text 3"/>
          <p:cNvSpPr/>
          <p:nvPr/>
        </p:nvSpPr>
        <p:spPr>
          <a:xfrm>
            <a:off x="1096804" y="5373053"/>
            <a:ext cx="3568660" cy="427553"/>
          </a:xfrm>
          <a:prstGeom prst="rect">
            <a:avLst/>
          </a:prstGeom>
          <a:noFill/>
          <a:ln/>
        </p:spPr>
        <p:txBody>
          <a:bodyPr wrap="none" lIns="0" tIns="0" rIns="0" bIns="0" rtlCol="0" anchor="t"/>
          <a:lstStyle/>
          <a:p>
            <a:pPr algn="l" indent="0" marL="0">
              <a:lnSpc>
                <a:spcPts val="3350"/>
              </a:lnSpc>
              <a:buNone/>
            </a:pPr>
            <a:r>
              <a:rPr lang="en-US" sz="2650" b="1" dirty="0">
                <a:solidFill>
                  <a:srgbClr val="384653"/>
                </a:solidFill>
                <a:latin typeface="Barlow Bold" pitchFamily="34" charset="0"/>
                <a:ea typeface="Barlow Bold" pitchFamily="34" charset="-122"/>
                <a:cs typeface="Barlow Bold" pitchFamily="34" charset="-120"/>
              </a:rPr>
              <a:t>Tin Nhắn Trực Tiếp (DM)</a:t>
            </a:r>
            <a:endParaRPr lang="en-US" sz="2650" dirty="0"/>
          </a:p>
        </p:txBody>
      </p:sp>
      <p:sp>
        <p:nvSpPr>
          <p:cNvPr id="10" name="Text 4"/>
          <p:cNvSpPr/>
          <p:nvPr/>
        </p:nvSpPr>
        <p:spPr>
          <a:xfrm>
            <a:off x="1096804" y="5930503"/>
            <a:ext cx="5862995" cy="1040130"/>
          </a:xfrm>
          <a:prstGeom prst="rect">
            <a:avLst/>
          </a:prstGeom>
          <a:noFill/>
          <a:ln/>
        </p:spPr>
        <p:txBody>
          <a:bodyPr wrap="square" lIns="0" tIns="0" rIns="0" bIns="0" rtlCol="0" anchor="t"/>
          <a:lstStyle/>
          <a:p>
            <a:pPr algn="l" indent="0" marL="0">
              <a:lnSpc>
                <a:spcPts val="2700"/>
              </a:lnSpc>
              <a:buNone/>
            </a:pPr>
            <a:r>
              <a:rPr lang="en-US" sz="1700" dirty="0">
                <a:solidFill>
                  <a:srgbClr val="384653"/>
                </a:solidFill>
                <a:latin typeface="Montserrat" pitchFamily="34" charset="0"/>
                <a:ea typeface="Montserrat" pitchFamily="34" charset="-122"/>
                <a:cs typeface="Montserrat" pitchFamily="34" charset="-120"/>
              </a:rPr>
              <a:t>Giao tiếp văn bản độ trễ thấp dưới 0,5 giây. Message types đa dạng, acction tiện lợi, đảm bảo trải nghiệm liền mạch hoàn mỹ dễ tiếp cận.</a:t>
            </a:r>
            <a:endParaRPr lang="en-US" sz="1700" dirty="0"/>
          </a:p>
        </p:txBody>
      </p:sp>
      <p:sp>
        <p:nvSpPr>
          <p:cNvPr id="11" name="Shape 5"/>
          <p:cNvSpPr/>
          <p:nvPr/>
        </p:nvSpPr>
        <p:spPr>
          <a:xfrm>
            <a:off x="7423428" y="5125998"/>
            <a:ext cx="6448663" cy="2438400"/>
          </a:xfrm>
          <a:prstGeom prst="roundRect">
            <a:avLst>
              <a:gd name="adj" fmla="val 6000"/>
            </a:avLst>
          </a:prstGeom>
          <a:solidFill>
            <a:srgbClr val="FFFFFF"/>
          </a:solidFill>
          <a:ln w="30480">
            <a:solidFill>
              <a:srgbClr val="BACFDD"/>
            </a:solidFill>
            <a:prstDash val="solid"/>
          </a:ln>
        </p:spPr>
      </p:sp>
      <p:pic>
        <p:nvPicPr>
          <p:cNvPr id="12" name="Image 4" descr="preencoded.png">    </p:cNvPr>
          <p:cNvPicPr>
            <a:picLocks noChangeAspect="1"/>
          </p:cNvPicPr>
          <p:nvPr/>
        </p:nvPicPr>
        <p:blipFill>
          <a:blip r:embed="rId5"/>
          <a:stretch>
            <a:fillRect/>
          </a:stretch>
        </p:blipFill>
        <p:spPr>
          <a:xfrm>
            <a:off x="7392948" y="5125998"/>
            <a:ext cx="121920" cy="2438400"/>
          </a:xfrm>
          <a:prstGeom prst="rect">
            <a:avLst/>
          </a:prstGeom>
        </p:spPr>
      </p:pic>
      <p:sp>
        <p:nvSpPr>
          <p:cNvPr id="13" name="Text 6"/>
          <p:cNvSpPr/>
          <p:nvPr/>
        </p:nvSpPr>
        <p:spPr>
          <a:xfrm>
            <a:off x="7761923" y="5373053"/>
            <a:ext cx="3479006" cy="427553"/>
          </a:xfrm>
          <a:prstGeom prst="rect">
            <a:avLst/>
          </a:prstGeom>
          <a:noFill/>
          <a:ln/>
        </p:spPr>
        <p:txBody>
          <a:bodyPr wrap="none" lIns="0" tIns="0" rIns="0" bIns="0" rtlCol="0" anchor="t"/>
          <a:lstStyle/>
          <a:p>
            <a:pPr algn="l" indent="0" marL="0">
              <a:lnSpc>
                <a:spcPts val="3350"/>
              </a:lnSpc>
              <a:buNone/>
            </a:pPr>
            <a:r>
              <a:rPr lang="en-US" sz="2650" b="1" dirty="0">
                <a:solidFill>
                  <a:srgbClr val="384653"/>
                </a:solidFill>
                <a:latin typeface="Barlow Bold" pitchFamily="34" charset="0"/>
                <a:ea typeface="Barlow Bold" pitchFamily="34" charset="-122"/>
                <a:cs typeface="Barlow Bold" pitchFamily="34" charset="-120"/>
              </a:rPr>
              <a:t>Cuộc Gọi Thoại &amp; Video</a:t>
            </a:r>
            <a:endParaRPr lang="en-US" sz="2650" dirty="0"/>
          </a:p>
        </p:txBody>
      </p:sp>
      <p:sp>
        <p:nvSpPr>
          <p:cNvPr id="14" name="Text 7"/>
          <p:cNvSpPr/>
          <p:nvPr/>
        </p:nvSpPr>
        <p:spPr>
          <a:xfrm>
            <a:off x="7761923" y="5930503"/>
            <a:ext cx="5863114" cy="1386840"/>
          </a:xfrm>
          <a:prstGeom prst="rect">
            <a:avLst/>
          </a:prstGeom>
          <a:noFill/>
          <a:ln/>
        </p:spPr>
        <p:txBody>
          <a:bodyPr wrap="square" lIns="0" tIns="0" rIns="0" bIns="0" rtlCol="0" anchor="t"/>
          <a:lstStyle/>
          <a:p>
            <a:pPr algn="l" indent="0" marL="0">
              <a:lnSpc>
                <a:spcPts val="2700"/>
              </a:lnSpc>
              <a:buNone/>
            </a:pPr>
            <a:r>
              <a:rPr lang="en-US" sz="1700" dirty="0">
                <a:solidFill>
                  <a:srgbClr val="384653"/>
                </a:solidFill>
                <a:latin typeface="Montserrat" pitchFamily="34" charset="0"/>
                <a:ea typeface="Montserrat" pitchFamily="34" charset="-122"/>
                <a:cs typeface="Montserrat" pitchFamily="34" charset="-120"/>
              </a:rPr>
              <a:t>Được hỗ trợ bởi công nghệ Agora tích hợp để truyền âm thanh và video thời gian thực an toàn, chất lượng cao. Hỗ trợ cả cuộc gọi 1-1 và nhóm với tối ưu hóa băng thông động.</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58309" y="1602700"/>
            <a:ext cx="3991094" cy="356235"/>
          </a:xfrm>
          <a:prstGeom prst="rect">
            <a:avLst/>
          </a:prstGeom>
          <a:noFill/>
          <a:ln/>
        </p:spPr>
        <p:txBody>
          <a:bodyPr wrap="none" lIns="0" tIns="0" rIns="0" bIns="0" rtlCol="0" anchor="t"/>
          <a:lstStyle/>
          <a:p>
            <a:pPr algn="l" indent="0" marL="0">
              <a:lnSpc>
                <a:spcPts val="2800"/>
              </a:lnSpc>
              <a:buNone/>
            </a:pPr>
            <a:r>
              <a:rPr lang="en-US" sz="2200" b="1" dirty="0">
                <a:solidFill>
                  <a:srgbClr val="2E3C4E"/>
                </a:solidFill>
                <a:latin typeface="Barlow Bold" pitchFamily="34" charset="0"/>
                <a:ea typeface="Barlow Bold" pitchFamily="34" charset="-122"/>
                <a:cs typeface="Barlow Bold" pitchFamily="34" charset="-120"/>
              </a:rPr>
              <a:t>Chương 2 / Tập Trung Tính Năng</a:t>
            </a:r>
            <a:endParaRPr lang="en-US" sz="2200" dirty="0"/>
          </a:p>
        </p:txBody>
      </p:sp>
      <p:sp>
        <p:nvSpPr>
          <p:cNvPr id="3" name="Text 1"/>
          <p:cNvSpPr/>
          <p:nvPr/>
        </p:nvSpPr>
        <p:spPr>
          <a:xfrm>
            <a:off x="758309" y="2045494"/>
            <a:ext cx="7091005" cy="570071"/>
          </a:xfrm>
          <a:prstGeom prst="rect">
            <a:avLst/>
          </a:prstGeom>
          <a:noFill/>
          <a:ln/>
        </p:spPr>
        <p:txBody>
          <a:bodyPr wrap="none" lIns="0" tIns="0" rIns="0" bIns="0" rtlCol="0" anchor="t"/>
          <a:lstStyle/>
          <a:p>
            <a:pPr algn="l" indent="0" marL="0">
              <a:lnSpc>
                <a:spcPts val="4450"/>
              </a:lnSpc>
              <a:buNone/>
            </a:pPr>
            <a:r>
              <a:rPr lang="en-US" sz="3550" b="1" dirty="0">
                <a:solidFill>
                  <a:srgbClr val="2E3C4E"/>
                </a:solidFill>
                <a:latin typeface="Barlow Bold" pitchFamily="34" charset="0"/>
                <a:ea typeface="Barlow Bold" pitchFamily="34" charset="-122"/>
                <a:cs typeface="Barlow Bold" pitchFamily="34" charset="-120"/>
              </a:rPr>
              <a:t>Xây Dựng và Mở Rộng Cộng Đồng Số</a:t>
            </a:r>
            <a:endParaRPr lang="en-US" sz="3550" dirty="0"/>
          </a:p>
        </p:txBody>
      </p:sp>
      <p:sp>
        <p:nvSpPr>
          <p:cNvPr id="4" name="Text 2"/>
          <p:cNvSpPr/>
          <p:nvPr/>
        </p:nvSpPr>
        <p:spPr>
          <a:xfrm>
            <a:off x="758309" y="2940487"/>
            <a:ext cx="13113782" cy="693420"/>
          </a:xfrm>
          <a:prstGeom prst="rect">
            <a:avLst/>
          </a:prstGeom>
          <a:noFill/>
          <a:ln/>
        </p:spPr>
        <p:txBody>
          <a:bodyPr wrap="square" lIns="0" tIns="0" rIns="0" bIns="0" rtlCol="0" anchor="t"/>
          <a:lstStyle/>
          <a:p>
            <a:pPr algn="l" indent="0" marL="0">
              <a:lnSpc>
                <a:spcPts val="2700"/>
              </a:lnSpc>
              <a:buNone/>
            </a:pPr>
            <a:r>
              <a:rPr lang="en-US" sz="1700" dirty="0">
                <a:solidFill>
                  <a:srgbClr val="384653"/>
                </a:solidFill>
                <a:latin typeface="Montserrat" pitchFamily="34" charset="0"/>
                <a:ea typeface="Montserrat" pitchFamily="34" charset="-122"/>
                <a:cs typeface="Montserrat" pitchFamily="34" charset="-120"/>
              </a:rPr>
              <a:t>Kiến trúc của Sociable được thiết kế xung quanh tính đồng thời cao, cho phép giao tiếp nhóm quy mô lớn và tạo lập cộng đồng.</a:t>
            </a:r>
            <a:endParaRPr lang="en-US" sz="170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58309" y="3877628"/>
            <a:ext cx="649962" cy="649962"/>
          </a:xfrm>
          <a:prstGeom prst="rect">
            <a:avLst/>
          </a:prstGeom>
        </p:spPr>
      </p:pic>
      <p:sp>
        <p:nvSpPr>
          <p:cNvPr id="6" name="Text 3"/>
          <p:cNvSpPr/>
          <p:nvPr/>
        </p:nvSpPr>
        <p:spPr>
          <a:xfrm>
            <a:off x="1679019" y="4060388"/>
            <a:ext cx="2850713" cy="356235"/>
          </a:xfrm>
          <a:prstGeom prst="rect">
            <a:avLst/>
          </a:prstGeom>
          <a:noFill/>
          <a:ln/>
        </p:spPr>
        <p:txBody>
          <a:bodyPr wrap="none" lIns="0" tIns="0" rIns="0" bIns="0" rtlCol="0" anchor="t"/>
          <a:lstStyle/>
          <a:p>
            <a:pPr algn="l" indent="0" marL="0">
              <a:lnSpc>
                <a:spcPts val="2800"/>
              </a:lnSpc>
              <a:buNone/>
            </a:pPr>
            <a:r>
              <a:rPr lang="en-US" sz="2200" b="1" dirty="0">
                <a:solidFill>
                  <a:srgbClr val="384653"/>
                </a:solidFill>
                <a:latin typeface="Barlow Bold" pitchFamily="34" charset="0"/>
                <a:ea typeface="Barlow Bold" pitchFamily="34" charset="-122"/>
                <a:cs typeface="Barlow Bold" pitchFamily="34" charset="-120"/>
              </a:rPr>
              <a:t>Cấu Trúc 'Server'</a:t>
            </a:r>
            <a:endParaRPr lang="en-US" sz="2200" dirty="0"/>
          </a:p>
        </p:txBody>
      </p:sp>
      <p:sp>
        <p:nvSpPr>
          <p:cNvPr id="7" name="Text 4"/>
          <p:cNvSpPr/>
          <p:nvPr/>
        </p:nvSpPr>
        <p:spPr>
          <a:xfrm>
            <a:off x="1679019" y="4546521"/>
            <a:ext cx="3270052" cy="2080260"/>
          </a:xfrm>
          <a:prstGeom prst="rect">
            <a:avLst/>
          </a:prstGeom>
          <a:noFill/>
          <a:ln/>
        </p:spPr>
        <p:txBody>
          <a:bodyPr wrap="square" lIns="0" tIns="0" rIns="0" bIns="0" rtlCol="0" anchor="t"/>
          <a:lstStyle/>
          <a:p>
            <a:pPr algn="l" indent="0" marL="0">
              <a:lnSpc>
                <a:spcPts val="2700"/>
              </a:lnSpc>
              <a:buNone/>
            </a:pPr>
            <a:r>
              <a:rPr lang="en-US" sz="1700" dirty="0">
                <a:solidFill>
                  <a:srgbClr val="384653"/>
                </a:solidFill>
                <a:latin typeface="Montserrat" pitchFamily="34" charset="0"/>
                <a:ea typeface="Montserrat" pitchFamily="34" charset="-122"/>
                <a:cs typeface="Montserrat" pitchFamily="34" charset="-120"/>
              </a:rPr>
              <a:t>Người dùng có thể tạo và tham gia các 'Server' tùy chỉnh, cung cấp không gian riêng tư, chỉ theo lời mời để tương tác nhóm tập trung và lưu trữ nội dung bền vững.</a:t>
            </a:r>
            <a:endParaRPr lang="en-US" sz="170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19819" y="3877628"/>
            <a:ext cx="649962" cy="649962"/>
          </a:xfrm>
          <a:prstGeom prst="rect">
            <a:avLst/>
          </a:prstGeom>
        </p:spPr>
      </p:pic>
      <p:sp>
        <p:nvSpPr>
          <p:cNvPr id="9" name="Text 5"/>
          <p:cNvSpPr/>
          <p:nvPr/>
        </p:nvSpPr>
        <p:spPr>
          <a:xfrm>
            <a:off x="6140529" y="4060388"/>
            <a:ext cx="2850713" cy="356235"/>
          </a:xfrm>
          <a:prstGeom prst="rect">
            <a:avLst/>
          </a:prstGeom>
          <a:noFill/>
          <a:ln/>
        </p:spPr>
        <p:txBody>
          <a:bodyPr wrap="none" lIns="0" tIns="0" rIns="0" bIns="0" rtlCol="0" anchor="t"/>
          <a:lstStyle/>
          <a:p>
            <a:pPr algn="l" indent="0" marL="0">
              <a:lnSpc>
                <a:spcPts val="2800"/>
              </a:lnSpc>
              <a:buNone/>
            </a:pPr>
            <a:r>
              <a:rPr lang="en-US" sz="2200" b="1" dirty="0">
                <a:solidFill>
                  <a:srgbClr val="384653"/>
                </a:solidFill>
                <a:latin typeface="Barlow Bold" pitchFamily="34" charset="0"/>
                <a:ea typeface="Barlow Bold" pitchFamily="34" charset="-122"/>
                <a:cs typeface="Barlow Bold" pitchFamily="34" charset="-120"/>
              </a:rPr>
              <a:t>Tổ Chức Kênh</a:t>
            </a:r>
            <a:endParaRPr lang="en-US" sz="2200" dirty="0"/>
          </a:p>
        </p:txBody>
      </p:sp>
      <p:sp>
        <p:nvSpPr>
          <p:cNvPr id="10" name="Text 6"/>
          <p:cNvSpPr/>
          <p:nvPr/>
        </p:nvSpPr>
        <p:spPr>
          <a:xfrm>
            <a:off x="6140529" y="4546521"/>
            <a:ext cx="3270052" cy="1733550"/>
          </a:xfrm>
          <a:prstGeom prst="rect">
            <a:avLst/>
          </a:prstGeom>
          <a:noFill/>
          <a:ln/>
        </p:spPr>
        <p:txBody>
          <a:bodyPr wrap="square" lIns="0" tIns="0" rIns="0" bIns="0" rtlCol="0" anchor="t"/>
          <a:lstStyle/>
          <a:p>
            <a:pPr algn="l" indent="0" marL="0">
              <a:lnSpc>
                <a:spcPts val="2700"/>
              </a:lnSpc>
              <a:buNone/>
            </a:pPr>
            <a:r>
              <a:rPr lang="en-US" sz="1700" dirty="0">
                <a:solidFill>
                  <a:srgbClr val="384653"/>
                </a:solidFill>
                <a:latin typeface="Montserrat" pitchFamily="34" charset="0"/>
                <a:ea typeface="Montserrat" pitchFamily="34" charset="-122"/>
                <a:cs typeface="Montserrat" pitchFamily="34" charset="-120"/>
              </a:rPr>
              <a:t>Trong mỗi Server, nội dung được phân đoạn logic thành các kênh văn bản và thoại, cho phép các cuộc trò chuyện có cấu trúc cao và tập trung.</a:t>
            </a:r>
            <a:endParaRPr lang="en-US" sz="170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81329" y="3877628"/>
            <a:ext cx="649962" cy="649962"/>
          </a:xfrm>
          <a:prstGeom prst="rect">
            <a:avLst/>
          </a:prstGeom>
        </p:spPr>
      </p:pic>
      <p:sp>
        <p:nvSpPr>
          <p:cNvPr id="12" name="Text 7"/>
          <p:cNvSpPr/>
          <p:nvPr/>
        </p:nvSpPr>
        <p:spPr>
          <a:xfrm>
            <a:off x="10602039" y="4060388"/>
            <a:ext cx="3146584" cy="356235"/>
          </a:xfrm>
          <a:prstGeom prst="rect">
            <a:avLst/>
          </a:prstGeom>
          <a:noFill/>
          <a:ln/>
        </p:spPr>
        <p:txBody>
          <a:bodyPr wrap="none" lIns="0" tIns="0" rIns="0" bIns="0" rtlCol="0" anchor="t"/>
          <a:lstStyle/>
          <a:p>
            <a:pPr algn="l" indent="0" marL="0">
              <a:lnSpc>
                <a:spcPts val="2800"/>
              </a:lnSpc>
              <a:buNone/>
            </a:pPr>
            <a:r>
              <a:rPr lang="en-US" sz="2200" b="1" dirty="0">
                <a:solidFill>
                  <a:srgbClr val="384653"/>
                </a:solidFill>
                <a:latin typeface="Barlow Bold" pitchFamily="34" charset="0"/>
                <a:ea typeface="Barlow Bold" pitchFamily="34" charset="-122"/>
                <a:cs typeface="Barlow Bold" pitchFamily="34" charset="-120"/>
              </a:rPr>
              <a:t>Quản Lý Vai Trò Nâng Cao</a:t>
            </a:r>
            <a:endParaRPr lang="en-US" sz="2200" dirty="0"/>
          </a:p>
        </p:txBody>
      </p:sp>
      <p:sp>
        <p:nvSpPr>
          <p:cNvPr id="13" name="Text 8"/>
          <p:cNvSpPr/>
          <p:nvPr/>
        </p:nvSpPr>
        <p:spPr>
          <a:xfrm>
            <a:off x="10602039" y="4546521"/>
            <a:ext cx="3270052" cy="1733550"/>
          </a:xfrm>
          <a:prstGeom prst="rect">
            <a:avLst/>
          </a:prstGeom>
          <a:noFill/>
          <a:ln/>
        </p:spPr>
        <p:txBody>
          <a:bodyPr wrap="square" lIns="0" tIns="0" rIns="0" bIns="0" rtlCol="0" anchor="t"/>
          <a:lstStyle/>
          <a:p>
            <a:pPr algn="l" indent="0" marL="0">
              <a:lnSpc>
                <a:spcPts val="2700"/>
              </a:lnSpc>
              <a:buNone/>
            </a:pPr>
            <a:r>
              <a:rPr lang="en-US" sz="1700" dirty="0">
                <a:solidFill>
                  <a:srgbClr val="384653"/>
                </a:solidFill>
                <a:latin typeface="Montserrat" pitchFamily="34" charset="0"/>
                <a:ea typeface="Montserrat" pitchFamily="34" charset="-122"/>
                <a:cs typeface="Montserrat" pitchFamily="34" charset="-120"/>
              </a:rPr>
              <a:t>Hệ thống quyền chi tiết cho phép quản trị viên server định nghĩa các vai trò tùy chỉnh, cấp quyền kiểm duyệt và truy cập cụ thể.</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87680" y="383143"/>
            <a:ext cx="2454473" cy="229195"/>
          </a:xfrm>
          <a:prstGeom prst="rect">
            <a:avLst/>
          </a:prstGeom>
          <a:noFill/>
          <a:ln/>
        </p:spPr>
        <p:txBody>
          <a:bodyPr wrap="none" lIns="0" tIns="0" rIns="0" bIns="0" rtlCol="0" anchor="t"/>
          <a:lstStyle/>
          <a:p>
            <a:pPr algn="l" indent="0" marL="0">
              <a:lnSpc>
                <a:spcPts val="1800"/>
              </a:lnSpc>
              <a:buNone/>
            </a:pPr>
            <a:r>
              <a:rPr lang="en-US" sz="1400" b="1" dirty="0">
                <a:solidFill>
                  <a:srgbClr val="2E3C4E"/>
                </a:solidFill>
                <a:latin typeface="Barlow Bold" pitchFamily="34" charset="0"/>
                <a:ea typeface="Barlow Bold" pitchFamily="34" charset="-122"/>
                <a:cs typeface="Barlow Bold" pitchFamily="34" charset="-120"/>
              </a:rPr>
              <a:t>Chương 3 / Chiều Sâu Kỹ Thuật</a:t>
            </a:r>
            <a:endParaRPr lang="en-US" sz="1400" dirty="0"/>
          </a:p>
        </p:txBody>
      </p:sp>
      <p:sp>
        <p:nvSpPr>
          <p:cNvPr id="3" name="Text 1"/>
          <p:cNvSpPr/>
          <p:nvPr/>
        </p:nvSpPr>
        <p:spPr>
          <a:xfrm>
            <a:off x="487680" y="821293"/>
            <a:ext cx="12583120" cy="632579"/>
          </a:xfrm>
          <a:prstGeom prst="rect">
            <a:avLst/>
          </a:prstGeom>
          <a:noFill/>
          <a:ln/>
        </p:spPr>
        <p:txBody>
          <a:bodyPr wrap="none" lIns="0" tIns="0" rIns="0" bIns="0" rtlCol="0" anchor="t"/>
          <a:lstStyle/>
          <a:p>
            <a:pPr algn="l" indent="0" marL="0">
              <a:lnSpc>
                <a:spcPts val="4950"/>
              </a:lnSpc>
              <a:buNone/>
            </a:pPr>
            <a:r>
              <a:rPr lang="en-US" sz="3950" b="1" dirty="0">
                <a:solidFill>
                  <a:srgbClr val="2E3C4E"/>
                </a:solidFill>
                <a:latin typeface="Barlow Bold" pitchFamily="34" charset="0"/>
                <a:ea typeface="Barlow Bold" pitchFamily="34" charset="-122"/>
                <a:cs typeface="Barlow Bold" pitchFamily="34" charset="-120"/>
              </a:rPr>
              <a:t>Kiến Trúc: Hiệu Suất Thời Gian Thực &amp; Khả Năng Mở Rộng</a:t>
            </a:r>
            <a:endParaRPr lang="en-US" sz="3950" dirty="0"/>
          </a:p>
        </p:txBody>
      </p:sp>
      <p:pic>
        <p:nvPicPr>
          <p:cNvPr id="4" name="Image 0" descr="preencoded.png">    </p:cNvPr>
          <p:cNvPicPr>
            <a:picLocks noChangeAspect="1"/>
          </p:cNvPicPr>
          <p:nvPr/>
        </p:nvPicPr>
        <p:blipFill>
          <a:blip r:embed="rId1"/>
          <a:stretch>
            <a:fillRect/>
          </a:stretch>
        </p:blipFill>
        <p:spPr>
          <a:xfrm>
            <a:off x="2040017" y="1662827"/>
            <a:ext cx="10550247" cy="7270552"/>
          </a:xfrm>
          <a:prstGeom prst="rect">
            <a:avLst/>
          </a:prstGeom>
        </p:spPr>
      </p:pic>
      <p:sp>
        <p:nvSpPr>
          <p:cNvPr id="5" name="Text 2"/>
          <p:cNvSpPr/>
          <p:nvPr/>
        </p:nvSpPr>
        <p:spPr>
          <a:xfrm>
            <a:off x="2304276" y="6186823"/>
            <a:ext cx="2883085" cy="404310"/>
          </a:xfrm>
          <a:prstGeom prst="rect">
            <a:avLst/>
          </a:prstGeom>
          <a:noFill/>
          <a:ln/>
        </p:spPr>
        <p:txBody>
          <a:bodyPr wrap="none" lIns="0" tIns="0" rIns="0" bIns="0" rtlCol="0" anchor="t"/>
          <a:lstStyle/>
          <a:p>
            <a:pPr algn="ctr" indent="0" marL="0">
              <a:lnSpc>
                <a:spcPts val="1750"/>
              </a:lnSpc>
              <a:buNone/>
            </a:pPr>
            <a:r>
              <a:rPr lang="en-US" sz="1400" b="1" dirty="0">
                <a:solidFill>
                  <a:srgbClr val="384653"/>
                </a:solidFill>
                <a:latin typeface="Barlow Bold" pitchFamily="34" charset="0"/>
                <a:ea typeface="Barlow Bold" pitchFamily="34" charset="-122"/>
                <a:cs typeface="Barlow Bold" pitchFamily="34" charset="-120"/>
              </a:rPr>
              <a:t>Giao Diện Flutter</a:t>
            </a:r>
            <a:endParaRPr lang="en-US" sz="1400" dirty="0"/>
          </a:p>
        </p:txBody>
      </p:sp>
      <p:pic>
        <p:nvPicPr>
          <p:cNvPr id="6"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535556" y="4334676"/>
            <a:ext cx="682740" cy="682741"/>
          </a:xfrm>
          <a:prstGeom prst="rect">
            <a:avLst/>
          </a:prstGeom>
        </p:spPr>
      </p:pic>
      <p:sp>
        <p:nvSpPr>
          <p:cNvPr id="7" name="Text 3"/>
          <p:cNvSpPr/>
          <p:nvPr/>
        </p:nvSpPr>
        <p:spPr>
          <a:xfrm>
            <a:off x="4761075" y="3113424"/>
            <a:ext cx="2976749" cy="404310"/>
          </a:xfrm>
          <a:prstGeom prst="rect">
            <a:avLst/>
          </a:prstGeom>
          <a:noFill/>
          <a:ln/>
        </p:spPr>
        <p:txBody>
          <a:bodyPr wrap="none" lIns="0" tIns="0" rIns="0" bIns="0" rtlCol="0" anchor="t"/>
          <a:lstStyle/>
          <a:p>
            <a:pPr algn="ctr" indent="0" marL="0">
              <a:lnSpc>
                <a:spcPts val="1750"/>
              </a:lnSpc>
              <a:buNone/>
            </a:pPr>
            <a:r>
              <a:rPr lang="en-US" sz="1400" b="1" dirty="0">
                <a:solidFill>
                  <a:srgbClr val="384653"/>
                </a:solidFill>
                <a:latin typeface="Barlow Bold" pitchFamily="34" charset="0"/>
                <a:ea typeface="Barlow Bold" pitchFamily="34" charset="-122"/>
                <a:cs typeface="Barlow Bold" pitchFamily="34" charset="-120"/>
              </a:rPr>
              <a:t>Quản Lý Trạng Thái</a:t>
            </a:r>
            <a:endParaRPr lang="en-US" sz="1400" dirty="0"/>
          </a:p>
        </p:txBody>
      </p:sp>
      <p:pic>
        <p:nvPicPr>
          <p:cNvPr id="8"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693656" y="4750934"/>
            <a:ext cx="682741" cy="682741"/>
          </a:xfrm>
          <a:prstGeom prst="rect">
            <a:avLst/>
          </a:prstGeom>
        </p:spPr>
      </p:pic>
      <p:sp>
        <p:nvSpPr>
          <p:cNvPr id="9" name="Text 4"/>
          <p:cNvSpPr/>
          <p:nvPr/>
        </p:nvSpPr>
        <p:spPr>
          <a:xfrm>
            <a:off x="6759371" y="7081000"/>
            <a:ext cx="2883085" cy="404310"/>
          </a:xfrm>
          <a:prstGeom prst="rect">
            <a:avLst/>
          </a:prstGeom>
          <a:noFill/>
          <a:ln/>
        </p:spPr>
        <p:txBody>
          <a:bodyPr wrap="none" lIns="0" tIns="0" rIns="0" bIns="0" rtlCol="0" anchor="t"/>
          <a:lstStyle/>
          <a:p>
            <a:pPr algn="ctr" indent="0" marL="0">
              <a:lnSpc>
                <a:spcPts val="1750"/>
              </a:lnSpc>
              <a:buNone/>
            </a:pPr>
            <a:r>
              <a:rPr lang="en-US" sz="1400" b="1" dirty="0">
                <a:solidFill>
                  <a:srgbClr val="384653"/>
                </a:solidFill>
                <a:latin typeface="Barlow Bold" pitchFamily="34" charset="0"/>
                <a:ea typeface="Barlow Bold" pitchFamily="34" charset="-122"/>
                <a:cs typeface="Barlow Bold" pitchFamily="34" charset="-120"/>
              </a:rPr>
              <a:t>Cổng API</a:t>
            </a:r>
            <a:endParaRPr lang="en-US" sz="1400" dirty="0"/>
          </a:p>
        </p:txBody>
      </p:sp>
      <p:pic>
        <p:nvPicPr>
          <p:cNvPr id="1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851969" y="5167193"/>
            <a:ext cx="682741" cy="682741"/>
          </a:xfrm>
          <a:prstGeom prst="rect">
            <a:avLst/>
          </a:prstGeom>
        </p:spPr>
      </p:pic>
      <p:sp>
        <p:nvSpPr>
          <p:cNvPr id="11" name="Text 5"/>
          <p:cNvSpPr/>
          <p:nvPr/>
        </p:nvSpPr>
        <p:spPr>
          <a:xfrm>
            <a:off x="9318581" y="3512827"/>
            <a:ext cx="2883085" cy="808621"/>
          </a:xfrm>
          <a:prstGeom prst="rect">
            <a:avLst/>
          </a:prstGeom>
          <a:noFill/>
          <a:ln/>
        </p:spPr>
        <p:txBody>
          <a:bodyPr wrap="square" lIns="0" tIns="0" rIns="0" bIns="0" rtlCol="0" anchor="t"/>
          <a:lstStyle/>
          <a:p>
            <a:pPr algn="ctr" indent="0" marL="0">
              <a:lnSpc>
                <a:spcPts val="1750"/>
              </a:lnSpc>
              <a:buNone/>
            </a:pPr>
            <a:r>
              <a:rPr lang="en-US" sz="1400" b="1" dirty="0">
                <a:solidFill>
                  <a:srgbClr val="384653"/>
                </a:solidFill>
                <a:latin typeface="Barlow Bold" pitchFamily="34" charset="0"/>
                <a:ea typeface="Barlow Bold" pitchFamily="34" charset="-122"/>
                <a:cs typeface="Barlow Bold" pitchFamily="34" charset="-120"/>
              </a:rPr>
              <a:t>Microservices &amp; Thời Gian Thực</a:t>
            </a:r>
            <a:endParaRPr lang="en-US" sz="1400" dirty="0"/>
          </a:p>
        </p:txBody>
      </p:sp>
      <p:pic>
        <p:nvPicPr>
          <p:cNvPr id="12"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148965" y="5614175"/>
            <a:ext cx="682740" cy="68274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58309" y="1794510"/>
            <a:ext cx="3818096" cy="356235"/>
          </a:xfrm>
          <a:prstGeom prst="rect">
            <a:avLst/>
          </a:prstGeom>
          <a:noFill/>
          <a:ln/>
        </p:spPr>
        <p:txBody>
          <a:bodyPr wrap="none" lIns="0" tIns="0" rIns="0" bIns="0" rtlCol="0" anchor="t"/>
          <a:lstStyle/>
          <a:p>
            <a:pPr algn="l" indent="0" marL="0">
              <a:lnSpc>
                <a:spcPts val="2800"/>
              </a:lnSpc>
              <a:buNone/>
            </a:pPr>
            <a:r>
              <a:rPr lang="en-US" sz="2200" b="1" dirty="0">
                <a:solidFill>
                  <a:srgbClr val="2E3C4E"/>
                </a:solidFill>
                <a:latin typeface="Barlow Bold" pitchFamily="34" charset="0"/>
                <a:ea typeface="Barlow Bold" pitchFamily="34" charset="-122"/>
                <a:cs typeface="Barlow Bold" pitchFamily="34" charset="-120"/>
              </a:rPr>
              <a:t>Chương 3 / Chiều Sâu Kỹ Thuật</a:t>
            </a:r>
            <a:endParaRPr lang="en-US" sz="2200" dirty="0"/>
          </a:p>
        </p:txBody>
      </p:sp>
      <p:sp>
        <p:nvSpPr>
          <p:cNvPr id="3" name="Text 1"/>
          <p:cNvSpPr/>
          <p:nvPr/>
        </p:nvSpPr>
        <p:spPr>
          <a:xfrm>
            <a:off x="758309" y="2237303"/>
            <a:ext cx="10549414" cy="570071"/>
          </a:xfrm>
          <a:prstGeom prst="rect">
            <a:avLst/>
          </a:prstGeom>
          <a:noFill/>
          <a:ln/>
        </p:spPr>
        <p:txBody>
          <a:bodyPr wrap="none" lIns="0" tIns="0" rIns="0" bIns="0" rtlCol="0" anchor="t"/>
          <a:lstStyle/>
          <a:p>
            <a:pPr algn="l" indent="0" marL="0">
              <a:lnSpc>
                <a:spcPts val="4450"/>
              </a:lnSpc>
              <a:buNone/>
            </a:pPr>
            <a:r>
              <a:rPr lang="en-US" sz="3550" b="1" dirty="0">
                <a:solidFill>
                  <a:srgbClr val="2E3C4E"/>
                </a:solidFill>
                <a:latin typeface="Barlow Bold" pitchFamily="34" charset="0"/>
                <a:ea typeface="Barlow Bold" pitchFamily="34" charset="-122"/>
                <a:cs typeface="Barlow Bold" pitchFamily="34" charset="-120"/>
              </a:rPr>
              <a:t>Điểm Mạnh Kỹ Thuật: Điều Khiến Chúng Tôi Khác Biệt</a:t>
            </a:r>
            <a:endParaRPr lang="en-US" sz="3550" dirty="0"/>
          </a:p>
        </p:txBody>
      </p:sp>
      <p:sp>
        <p:nvSpPr>
          <p:cNvPr id="4" name="Shape 2"/>
          <p:cNvSpPr/>
          <p:nvPr/>
        </p:nvSpPr>
        <p:spPr>
          <a:xfrm>
            <a:off x="758309" y="3132296"/>
            <a:ext cx="4226838" cy="649962"/>
          </a:xfrm>
          <a:prstGeom prst="roundRect">
            <a:avLst>
              <a:gd name="adj" fmla="val 480018"/>
            </a:avLst>
          </a:prstGeom>
          <a:solidFill>
            <a:srgbClr val="D4E9F7"/>
          </a:solidFill>
          <a:ln w="7620">
            <a:solidFill>
              <a:srgbClr val="BACFDD"/>
            </a:solidFill>
            <a:prstDash val="solid"/>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709267" y="3294697"/>
            <a:ext cx="324922" cy="324922"/>
          </a:xfrm>
          <a:prstGeom prst="rect">
            <a:avLst/>
          </a:prstGeom>
        </p:spPr>
      </p:pic>
      <p:sp>
        <p:nvSpPr>
          <p:cNvPr id="6" name="Text 3"/>
          <p:cNvSpPr/>
          <p:nvPr/>
        </p:nvSpPr>
        <p:spPr>
          <a:xfrm>
            <a:off x="974884" y="3998833"/>
            <a:ext cx="3228975" cy="356235"/>
          </a:xfrm>
          <a:prstGeom prst="rect">
            <a:avLst/>
          </a:prstGeom>
          <a:noFill/>
          <a:ln/>
        </p:spPr>
        <p:txBody>
          <a:bodyPr wrap="none" lIns="0" tIns="0" rIns="0" bIns="0" rtlCol="0" anchor="t"/>
          <a:lstStyle/>
          <a:p>
            <a:pPr algn="l" indent="0" marL="0">
              <a:lnSpc>
                <a:spcPts val="2800"/>
              </a:lnSpc>
              <a:buNone/>
            </a:pPr>
            <a:r>
              <a:rPr lang="en-US" sz="2200" b="1" dirty="0">
                <a:solidFill>
                  <a:srgbClr val="384653"/>
                </a:solidFill>
                <a:latin typeface="Barlow Bold" pitchFamily="34" charset="0"/>
                <a:ea typeface="Barlow Bold" pitchFamily="34" charset="-122"/>
                <a:cs typeface="Barlow Bold" pitchFamily="34" charset="-120"/>
              </a:rPr>
              <a:t>Bảo Mật &amp; Quyền Riêng Tư</a:t>
            </a:r>
            <a:endParaRPr lang="en-US" sz="2200" dirty="0"/>
          </a:p>
        </p:txBody>
      </p:sp>
      <p:sp>
        <p:nvSpPr>
          <p:cNvPr id="7" name="Text 4"/>
          <p:cNvSpPr/>
          <p:nvPr/>
        </p:nvSpPr>
        <p:spPr>
          <a:xfrm>
            <a:off x="974884" y="4484965"/>
            <a:ext cx="3793688" cy="1733550"/>
          </a:xfrm>
          <a:prstGeom prst="rect">
            <a:avLst/>
          </a:prstGeom>
          <a:noFill/>
          <a:ln/>
        </p:spPr>
        <p:txBody>
          <a:bodyPr wrap="square" lIns="0" tIns="0" rIns="0" bIns="0" rtlCol="0" anchor="t"/>
          <a:lstStyle/>
          <a:p>
            <a:pPr algn="l" indent="0" marL="0">
              <a:lnSpc>
                <a:spcPts val="2700"/>
              </a:lnSpc>
              <a:buNone/>
            </a:pPr>
            <a:r>
              <a:rPr lang="en-US" sz="1700" dirty="0">
                <a:solidFill>
                  <a:srgbClr val="384653"/>
                </a:solidFill>
                <a:latin typeface="Montserrat" pitchFamily="34" charset="0"/>
                <a:ea typeface="Montserrat" pitchFamily="34" charset="-122"/>
                <a:cs typeface="Montserrat" pitchFamily="34" charset="-120"/>
              </a:rPr>
              <a:t>Triển khai các Rules thắt chặt bảo mật dữ liệu cho tất cả tin nhắn trực tiếp và cuộc gọi thoại/video, ưu tiên quyền riêng tư người dùng và tính toàn vẹn dữ liệu.</a:t>
            </a:r>
            <a:endParaRPr lang="en-US" sz="1700" dirty="0"/>
          </a:p>
        </p:txBody>
      </p:sp>
      <p:sp>
        <p:nvSpPr>
          <p:cNvPr id="8" name="Shape 5"/>
          <p:cNvSpPr/>
          <p:nvPr/>
        </p:nvSpPr>
        <p:spPr>
          <a:xfrm>
            <a:off x="5201722" y="3132296"/>
            <a:ext cx="4226838" cy="649962"/>
          </a:xfrm>
          <a:prstGeom prst="roundRect">
            <a:avLst>
              <a:gd name="adj" fmla="val 480018"/>
            </a:avLst>
          </a:prstGeom>
          <a:solidFill>
            <a:srgbClr val="D4E9F7"/>
          </a:solidFill>
          <a:ln w="7620">
            <a:solidFill>
              <a:srgbClr val="BACFDD"/>
            </a:solidFill>
            <a:prstDash val="solid"/>
          </a:ln>
        </p:spPr>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52680" y="3294697"/>
            <a:ext cx="324922" cy="324922"/>
          </a:xfrm>
          <a:prstGeom prst="rect">
            <a:avLst/>
          </a:prstGeom>
        </p:spPr>
      </p:pic>
      <p:sp>
        <p:nvSpPr>
          <p:cNvPr id="10" name="Text 6"/>
          <p:cNvSpPr/>
          <p:nvPr/>
        </p:nvSpPr>
        <p:spPr>
          <a:xfrm>
            <a:off x="5418296" y="3998833"/>
            <a:ext cx="2850713" cy="356235"/>
          </a:xfrm>
          <a:prstGeom prst="rect">
            <a:avLst/>
          </a:prstGeom>
          <a:noFill/>
          <a:ln/>
        </p:spPr>
        <p:txBody>
          <a:bodyPr wrap="none" lIns="0" tIns="0" rIns="0" bIns="0" rtlCol="0" anchor="t"/>
          <a:lstStyle/>
          <a:p>
            <a:pPr algn="l" indent="0" marL="0">
              <a:lnSpc>
                <a:spcPts val="2800"/>
              </a:lnSpc>
              <a:buNone/>
            </a:pPr>
            <a:r>
              <a:rPr lang="en-US" sz="2200" b="1" dirty="0">
                <a:solidFill>
                  <a:srgbClr val="384653"/>
                </a:solidFill>
                <a:latin typeface="Barlow Bold" pitchFamily="34" charset="0"/>
                <a:ea typeface="Barlow Bold" pitchFamily="34" charset="-122"/>
                <a:cs typeface="Barlow Bold" pitchFamily="34" charset="-120"/>
              </a:rPr>
              <a:t>Độ Trễ Được Tối Ưu</a:t>
            </a:r>
            <a:endParaRPr lang="en-US" sz="2200" dirty="0"/>
          </a:p>
        </p:txBody>
      </p:sp>
      <p:sp>
        <p:nvSpPr>
          <p:cNvPr id="11" name="Text 7"/>
          <p:cNvSpPr/>
          <p:nvPr/>
        </p:nvSpPr>
        <p:spPr>
          <a:xfrm>
            <a:off x="5418296" y="4484965"/>
            <a:ext cx="3793688" cy="1040130"/>
          </a:xfrm>
          <a:prstGeom prst="rect">
            <a:avLst/>
          </a:prstGeom>
          <a:noFill/>
          <a:ln/>
        </p:spPr>
        <p:txBody>
          <a:bodyPr wrap="square" lIns="0" tIns="0" rIns="0" bIns="0" rtlCol="0" anchor="t"/>
          <a:lstStyle/>
          <a:p>
            <a:pPr algn="l" indent="0" marL="0">
              <a:lnSpc>
                <a:spcPts val="2700"/>
              </a:lnSpc>
              <a:buNone/>
            </a:pPr>
            <a:r>
              <a:rPr lang="en-US" sz="1700" dirty="0">
                <a:solidFill>
                  <a:srgbClr val="384653"/>
                </a:solidFill>
                <a:latin typeface="Montserrat" pitchFamily="34" charset="0"/>
                <a:ea typeface="Montserrat" pitchFamily="34" charset="-122"/>
                <a:cs typeface="Montserrat" pitchFamily="34" charset="-120"/>
              </a:rPr>
              <a:t>Giảm thiểu độ trễ địa lý, đảm bảo trải nghiệm thời gian thực gần như tức thời.</a:t>
            </a:r>
            <a:endParaRPr lang="en-US" sz="1700" dirty="0"/>
          </a:p>
        </p:txBody>
      </p:sp>
      <p:sp>
        <p:nvSpPr>
          <p:cNvPr id="12" name="Shape 8"/>
          <p:cNvSpPr/>
          <p:nvPr/>
        </p:nvSpPr>
        <p:spPr>
          <a:xfrm>
            <a:off x="9645134" y="3132296"/>
            <a:ext cx="4226957" cy="649962"/>
          </a:xfrm>
          <a:prstGeom prst="roundRect">
            <a:avLst>
              <a:gd name="adj" fmla="val 480018"/>
            </a:avLst>
          </a:prstGeom>
          <a:solidFill>
            <a:srgbClr val="D4E9F7"/>
          </a:solidFill>
          <a:ln w="7620">
            <a:solidFill>
              <a:srgbClr val="BACFDD"/>
            </a:solidFill>
            <a:prstDash val="solid"/>
          </a:ln>
        </p:spPr>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596092" y="3294697"/>
            <a:ext cx="324922" cy="324922"/>
          </a:xfrm>
          <a:prstGeom prst="rect">
            <a:avLst/>
          </a:prstGeom>
        </p:spPr>
      </p:pic>
      <p:sp>
        <p:nvSpPr>
          <p:cNvPr id="14" name="Text 9"/>
          <p:cNvSpPr/>
          <p:nvPr/>
        </p:nvSpPr>
        <p:spPr>
          <a:xfrm>
            <a:off x="9861709" y="3998833"/>
            <a:ext cx="3673554" cy="356235"/>
          </a:xfrm>
          <a:prstGeom prst="rect">
            <a:avLst/>
          </a:prstGeom>
          <a:noFill/>
          <a:ln/>
        </p:spPr>
        <p:txBody>
          <a:bodyPr wrap="none" lIns="0" tIns="0" rIns="0" bIns="0" rtlCol="0" anchor="t"/>
          <a:lstStyle/>
          <a:p>
            <a:pPr algn="l" indent="0" marL="0">
              <a:lnSpc>
                <a:spcPts val="2800"/>
              </a:lnSpc>
              <a:buNone/>
            </a:pPr>
            <a:r>
              <a:rPr lang="en-US" sz="2200" b="1" dirty="0">
                <a:solidFill>
                  <a:srgbClr val="384653"/>
                </a:solidFill>
                <a:latin typeface="Barlow Bold" pitchFamily="34" charset="0"/>
                <a:ea typeface="Barlow Bold" pitchFamily="34" charset="-122"/>
                <a:cs typeface="Barlow Bold" pitchFamily="34" charset="-120"/>
              </a:rPr>
              <a:t>Bộ Nhớ Đệm Dữ Liệu Hiệu Quả</a:t>
            </a:r>
            <a:endParaRPr lang="en-US" sz="2200" dirty="0"/>
          </a:p>
        </p:txBody>
      </p:sp>
      <p:sp>
        <p:nvSpPr>
          <p:cNvPr id="15" name="Text 10"/>
          <p:cNvSpPr/>
          <p:nvPr/>
        </p:nvSpPr>
        <p:spPr>
          <a:xfrm>
            <a:off x="9861709" y="4484965"/>
            <a:ext cx="3793807" cy="1733550"/>
          </a:xfrm>
          <a:prstGeom prst="rect">
            <a:avLst/>
          </a:prstGeom>
          <a:noFill/>
          <a:ln/>
        </p:spPr>
        <p:txBody>
          <a:bodyPr wrap="square" lIns="0" tIns="0" rIns="0" bIns="0" rtlCol="0" anchor="t"/>
          <a:lstStyle/>
          <a:p>
            <a:pPr algn="l" indent="0" marL="0">
              <a:lnSpc>
                <a:spcPts val="2700"/>
              </a:lnSpc>
              <a:buNone/>
            </a:pPr>
            <a:r>
              <a:rPr lang="en-US" sz="1700" dirty="0">
                <a:solidFill>
                  <a:srgbClr val="384653"/>
                </a:solidFill>
                <a:latin typeface="Montserrat" pitchFamily="34" charset="0"/>
                <a:ea typeface="Montserrat" pitchFamily="34" charset="-122"/>
                <a:cs typeface="Montserrat" pitchFamily="34" charset="-120"/>
              </a:rPr>
              <a:t>Các chiến lược bộ nhớ đệm phía client, được tối ưu cho Flutter, giảm các cuộc gọi API lặp lại, cải thiện thời gian tải và hỗ trợ khả năng offline cho nội dung cốt lõi.</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760720" cy="8232458"/>
          </a:xfrm>
          <a:prstGeom prst="rect">
            <a:avLst/>
          </a:prstGeom>
        </p:spPr>
      </p:pic>
      <p:sp>
        <p:nvSpPr>
          <p:cNvPr id="3" name="Text 0"/>
          <p:cNvSpPr/>
          <p:nvPr/>
        </p:nvSpPr>
        <p:spPr>
          <a:xfrm>
            <a:off x="6196608" y="558046"/>
            <a:ext cx="3551158" cy="333732"/>
          </a:xfrm>
          <a:prstGeom prst="rect">
            <a:avLst/>
          </a:prstGeom>
          <a:noFill/>
          <a:ln/>
        </p:spPr>
        <p:txBody>
          <a:bodyPr wrap="none" lIns="0" tIns="0" rIns="0" bIns="0" rtlCol="0" anchor="t"/>
          <a:lstStyle/>
          <a:p>
            <a:pPr algn="l" indent="0" marL="0">
              <a:lnSpc>
                <a:spcPts val="2600"/>
              </a:lnSpc>
              <a:buNone/>
            </a:pPr>
            <a:r>
              <a:rPr lang="en-US" sz="2100" b="1" dirty="0">
                <a:solidFill>
                  <a:srgbClr val="2E3C4E"/>
                </a:solidFill>
                <a:latin typeface="Barlow Bold" pitchFamily="34" charset="0"/>
                <a:ea typeface="Barlow Bold" pitchFamily="34" charset="-122"/>
                <a:cs typeface="Barlow Bold" pitchFamily="34" charset="-120"/>
              </a:rPr>
              <a:t>Chương 4 / Lộ Trình Phát Triển</a:t>
            </a:r>
            <a:endParaRPr lang="en-US" sz="2100" dirty="0"/>
          </a:p>
        </p:txBody>
      </p:sp>
      <p:sp>
        <p:nvSpPr>
          <p:cNvPr id="4" name="Text 1"/>
          <p:cNvSpPr/>
          <p:nvPr/>
        </p:nvSpPr>
        <p:spPr>
          <a:xfrm>
            <a:off x="6196608" y="972860"/>
            <a:ext cx="5486757" cy="533995"/>
          </a:xfrm>
          <a:prstGeom prst="rect">
            <a:avLst/>
          </a:prstGeom>
          <a:noFill/>
          <a:ln/>
        </p:spPr>
        <p:txBody>
          <a:bodyPr wrap="none" lIns="0" tIns="0" rIns="0" bIns="0" rtlCol="0" anchor="t"/>
          <a:lstStyle/>
          <a:p>
            <a:pPr algn="l" indent="0" marL="0">
              <a:lnSpc>
                <a:spcPts val="4200"/>
              </a:lnSpc>
              <a:buNone/>
            </a:pPr>
            <a:r>
              <a:rPr lang="en-US" sz="3350" b="1" dirty="0">
                <a:solidFill>
                  <a:srgbClr val="2E3C4E"/>
                </a:solidFill>
                <a:latin typeface="Barlow Bold" pitchFamily="34" charset="0"/>
                <a:ea typeface="Barlow Bold" pitchFamily="34" charset="-122"/>
                <a:cs typeface="Barlow Bold" pitchFamily="34" charset="-120"/>
              </a:rPr>
              <a:t>Các Cột Mốc Kỹ Thuật Sắp Tới</a:t>
            </a:r>
            <a:endParaRPr lang="en-US" sz="3350" dirty="0"/>
          </a:p>
        </p:txBody>
      </p:sp>
      <p:sp>
        <p:nvSpPr>
          <p:cNvPr id="5" name="Text 2"/>
          <p:cNvSpPr/>
          <p:nvPr/>
        </p:nvSpPr>
        <p:spPr>
          <a:xfrm>
            <a:off x="6196608" y="1811179"/>
            <a:ext cx="7723584" cy="649605"/>
          </a:xfrm>
          <a:prstGeom prst="rect">
            <a:avLst/>
          </a:prstGeom>
          <a:noFill/>
          <a:ln/>
        </p:spPr>
        <p:txBody>
          <a:bodyPr wrap="square" lIns="0" tIns="0" rIns="0" bIns="0" rtlCol="0" anchor="t"/>
          <a:lstStyle/>
          <a:p>
            <a:pPr algn="l" indent="0" marL="0">
              <a:lnSpc>
                <a:spcPts val="2550"/>
              </a:lnSpc>
              <a:buNone/>
            </a:pPr>
            <a:r>
              <a:rPr lang="en-US" sz="1550" dirty="0">
                <a:solidFill>
                  <a:srgbClr val="384653"/>
                </a:solidFill>
                <a:latin typeface="Montserrat" pitchFamily="34" charset="0"/>
                <a:ea typeface="Montserrat" pitchFamily="34" charset="-122"/>
                <a:cs typeface="Montserrat" pitchFamily="34" charset="-120"/>
              </a:rPr>
              <a:t>Trọng tâm trước mắt của chúng tôi là mở rộng tính tương tác và độ trưởng thành của nền tảng.</a:t>
            </a:r>
            <a:endParaRPr lang="en-US" sz="1550" dirty="0"/>
          </a:p>
        </p:txBody>
      </p:sp>
      <p:sp>
        <p:nvSpPr>
          <p:cNvPr id="6" name="Shape 3"/>
          <p:cNvSpPr/>
          <p:nvPr/>
        </p:nvSpPr>
        <p:spPr>
          <a:xfrm>
            <a:off x="6424851" y="2689027"/>
            <a:ext cx="22860" cy="4985385"/>
          </a:xfrm>
          <a:prstGeom prst="roundRect">
            <a:avLst>
              <a:gd name="adj" fmla="val 1331656"/>
            </a:avLst>
          </a:prstGeom>
          <a:solidFill>
            <a:srgbClr val="BACFDD"/>
          </a:solidFill>
          <a:ln/>
        </p:spPr>
      </p:sp>
      <p:sp>
        <p:nvSpPr>
          <p:cNvPr id="7" name="Shape 4"/>
          <p:cNvSpPr/>
          <p:nvPr/>
        </p:nvSpPr>
        <p:spPr>
          <a:xfrm>
            <a:off x="6630293" y="2905839"/>
            <a:ext cx="608767" cy="22860"/>
          </a:xfrm>
          <a:prstGeom prst="roundRect">
            <a:avLst>
              <a:gd name="adj" fmla="val 1331656"/>
            </a:avLst>
          </a:prstGeom>
          <a:solidFill>
            <a:srgbClr val="BACFDD"/>
          </a:solidFill>
          <a:ln/>
        </p:spPr>
      </p:sp>
      <p:sp>
        <p:nvSpPr>
          <p:cNvPr id="8" name="Shape 5"/>
          <p:cNvSpPr/>
          <p:nvPr/>
        </p:nvSpPr>
        <p:spPr>
          <a:xfrm>
            <a:off x="6196548" y="2689027"/>
            <a:ext cx="456605" cy="456605"/>
          </a:xfrm>
          <a:prstGeom prst="roundRect">
            <a:avLst>
              <a:gd name="adj" fmla="val 66670"/>
            </a:avLst>
          </a:prstGeom>
          <a:solidFill>
            <a:srgbClr val="D4E9F7"/>
          </a:solidFill>
          <a:ln w="7620">
            <a:solidFill>
              <a:srgbClr val="BACFDD"/>
            </a:solidFill>
            <a:prstDash val="solid"/>
          </a:ln>
        </p:spPr>
      </p:sp>
      <p:sp>
        <p:nvSpPr>
          <p:cNvPr id="9" name="Text 6"/>
          <p:cNvSpPr/>
          <p:nvPr/>
        </p:nvSpPr>
        <p:spPr>
          <a:xfrm>
            <a:off x="6264593" y="2717006"/>
            <a:ext cx="320397" cy="400526"/>
          </a:xfrm>
          <a:prstGeom prst="rect">
            <a:avLst/>
          </a:prstGeom>
          <a:noFill/>
          <a:ln/>
        </p:spPr>
        <p:txBody>
          <a:bodyPr wrap="none" lIns="0" tIns="0" rIns="0" bIns="0" rtlCol="0" anchor="t"/>
          <a:lstStyle/>
          <a:p>
            <a:pPr algn="ctr" indent="0" marL="0">
              <a:lnSpc>
                <a:spcPts val="2500"/>
              </a:lnSpc>
              <a:buNone/>
            </a:pPr>
            <a:r>
              <a:rPr lang="en-US" sz="2500" b="1" dirty="0">
                <a:solidFill>
                  <a:srgbClr val="384653"/>
                </a:solidFill>
                <a:latin typeface="Barlow Bold" pitchFamily="34" charset="0"/>
                <a:ea typeface="Barlow Bold" pitchFamily="34" charset="-122"/>
                <a:cs typeface="Barlow Bold" pitchFamily="34" charset="-120"/>
              </a:rPr>
              <a:t>1</a:t>
            </a:r>
            <a:endParaRPr lang="en-US" sz="2500" dirty="0"/>
          </a:p>
        </p:txBody>
      </p:sp>
      <p:sp>
        <p:nvSpPr>
          <p:cNvPr id="10" name="Text 7"/>
          <p:cNvSpPr/>
          <p:nvPr/>
        </p:nvSpPr>
        <p:spPr>
          <a:xfrm>
            <a:off x="7439620" y="2758678"/>
            <a:ext cx="2670215" cy="333732"/>
          </a:xfrm>
          <a:prstGeom prst="rect">
            <a:avLst/>
          </a:prstGeom>
          <a:noFill/>
          <a:ln/>
        </p:spPr>
        <p:txBody>
          <a:bodyPr wrap="none" lIns="0" tIns="0" rIns="0" bIns="0" rtlCol="0" anchor="t"/>
          <a:lstStyle/>
          <a:p>
            <a:pPr algn="l" indent="0" marL="0">
              <a:lnSpc>
                <a:spcPts val="2600"/>
              </a:lnSpc>
              <a:buNone/>
            </a:pPr>
            <a:r>
              <a:rPr lang="en-US" sz="2100" b="1" dirty="0">
                <a:solidFill>
                  <a:srgbClr val="384653"/>
                </a:solidFill>
                <a:latin typeface="Barlow Bold" pitchFamily="34" charset="0"/>
                <a:ea typeface="Barlow Bold" pitchFamily="34" charset="-122"/>
                <a:cs typeface="Barlow Bold" pitchFamily="34" charset="-120"/>
              </a:rPr>
              <a:t>Triển Khai Q4</a:t>
            </a:r>
            <a:endParaRPr lang="en-US" sz="2100" dirty="0"/>
          </a:p>
        </p:txBody>
      </p:sp>
      <p:sp>
        <p:nvSpPr>
          <p:cNvPr id="11" name="Text 8"/>
          <p:cNvSpPr/>
          <p:nvPr/>
        </p:nvSpPr>
        <p:spPr>
          <a:xfrm>
            <a:off x="7439620" y="3214092"/>
            <a:ext cx="6480572" cy="974408"/>
          </a:xfrm>
          <a:prstGeom prst="rect">
            <a:avLst/>
          </a:prstGeom>
          <a:noFill/>
          <a:ln/>
        </p:spPr>
        <p:txBody>
          <a:bodyPr wrap="square" lIns="0" tIns="0" rIns="0" bIns="0" rtlCol="0" anchor="t"/>
          <a:lstStyle/>
          <a:p>
            <a:pPr algn="l" indent="0" marL="0">
              <a:lnSpc>
                <a:spcPts val="2550"/>
              </a:lnSpc>
              <a:buNone/>
            </a:pPr>
            <a:r>
              <a:rPr lang="en-US" sz="1550" dirty="0">
                <a:solidFill>
                  <a:srgbClr val="384653"/>
                </a:solidFill>
                <a:latin typeface="Montserrat" pitchFamily="34" charset="0"/>
                <a:ea typeface="Montserrat" pitchFamily="34" charset="-122"/>
                <a:cs typeface="Montserrat" pitchFamily="34" charset="-120"/>
              </a:rPr>
              <a:t>Giới thiệu khả năng </a:t>
            </a:r>
            <a:pPr algn="l" indent="0" marL="0">
              <a:lnSpc>
                <a:spcPts val="2550"/>
              </a:lnSpc>
              <a:buNone/>
            </a:pPr>
            <a:r>
              <a:rPr lang="en-US" sz="1550" dirty="0">
                <a:solidFill>
                  <a:srgbClr val="FFFFFF"/>
                </a:solidFill>
                <a:highlight>
                  <a:srgbClr val="2589C9"/>
                </a:highlight>
                <a:latin typeface="Montserrat" pitchFamily="34" charset="0"/>
                <a:ea typeface="Montserrat" pitchFamily="34" charset="-122"/>
                <a:cs typeface="Montserrat" pitchFamily="34" charset="-120"/>
              </a:rPr>
              <a:t>Phát Trực Tiếp Trong Ứng Dụng</a:t>
            </a:r>
            <a:pPr algn="l" indent="0" marL="0">
              <a:lnSpc>
                <a:spcPts val="2550"/>
              </a:lnSpc>
              <a:buNone/>
            </a:pPr>
            <a:r>
              <a:rPr lang="en-US" sz="1550" dirty="0">
                <a:solidFill>
                  <a:srgbClr val="384653"/>
                </a:solidFill>
                <a:latin typeface="Montserrat" pitchFamily="34" charset="0"/>
                <a:ea typeface="Montserrat" pitchFamily="34" charset="-122"/>
                <a:cs typeface="Montserrat" pitchFamily="34" charset="-120"/>
              </a:rPr>
              <a:t> cho các buổi phát sóng và sự kiện cộng đồng. Tích hợp các công cụ kiểm duyệt được hỗ trợ bởi </a:t>
            </a:r>
            <a:pPr algn="l" indent="0" marL="0">
              <a:lnSpc>
                <a:spcPts val="2550"/>
              </a:lnSpc>
              <a:buNone/>
            </a:pPr>
            <a:r>
              <a:rPr lang="en-US" sz="1550" b="1" dirty="0">
                <a:solidFill>
                  <a:srgbClr val="384653"/>
                </a:solidFill>
                <a:latin typeface="Montserrat" pitchFamily="34" charset="0"/>
                <a:ea typeface="Montserrat" pitchFamily="34" charset="-122"/>
                <a:cs typeface="Montserrat" pitchFamily="34" charset="-120"/>
              </a:rPr>
              <a:t>AI</a:t>
            </a:r>
            <a:pPr algn="l" indent="0" marL="0">
              <a:lnSpc>
                <a:spcPts val="2550"/>
              </a:lnSpc>
              <a:buNone/>
            </a:pPr>
            <a:r>
              <a:rPr lang="en-US" sz="1550" dirty="0">
                <a:solidFill>
                  <a:srgbClr val="384653"/>
                </a:solidFill>
                <a:latin typeface="Montserrat" pitchFamily="34" charset="0"/>
                <a:ea typeface="Montserrat" pitchFamily="34" charset="-122"/>
                <a:cs typeface="Montserrat" pitchFamily="34" charset="-120"/>
              </a:rPr>
              <a:t>.</a:t>
            </a:r>
            <a:endParaRPr lang="en-US" sz="1550" dirty="0"/>
          </a:p>
        </p:txBody>
      </p:sp>
      <p:sp>
        <p:nvSpPr>
          <p:cNvPr id="12" name="Shape 9"/>
          <p:cNvSpPr/>
          <p:nvPr/>
        </p:nvSpPr>
        <p:spPr>
          <a:xfrm>
            <a:off x="6630293" y="4811197"/>
            <a:ext cx="608767" cy="22860"/>
          </a:xfrm>
          <a:prstGeom prst="roundRect">
            <a:avLst>
              <a:gd name="adj" fmla="val 1331656"/>
            </a:avLst>
          </a:prstGeom>
          <a:solidFill>
            <a:srgbClr val="BACFDD"/>
          </a:solidFill>
          <a:ln/>
        </p:spPr>
      </p:sp>
      <p:sp>
        <p:nvSpPr>
          <p:cNvPr id="13" name="Shape 10"/>
          <p:cNvSpPr/>
          <p:nvPr/>
        </p:nvSpPr>
        <p:spPr>
          <a:xfrm>
            <a:off x="6196548" y="4594384"/>
            <a:ext cx="456605" cy="456605"/>
          </a:xfrm>
          <a:prstGeom prst="roundRect">
            <a:avLst>
              <a:gd name="adj" fmla="val 66670"/>
            </a:avLst>
          </a:prstGeom>
          <a:solidFill>
            <a:srgbClr val="D4E9F7"/>
          </a:solidFill>
          <a:ln w="7620">
            <a:solidFill>
              <a:srgbClr val="BACFDD"/>
            </a:solidFill>
            <a:prstDash val="solid"/>
          </a:ln>
        </p:spPr>
      </p:sp>
      <p:sp>
        <p:nvSpPr>
          <p:cNvPr id="14" name="Text 11"/>
          <p:cNvSpPr/>
          <p:nvPr/>
        </p:nvSpPr>
        <p:spPr>
          <a:xfrm>
            <a:off x="6264593" y="4622363"/>
            <a:ext cx="320397" cy="400526"/>
          </a:xfrm>
          <a:prstGeom prst="rect">
            <a:avLst/>
          </a:prstGeom>
          <a:noFill/>
          <a:ln/>
        </p:spPr>
        <p:txBody>
          <a:bodyPr wrap="none" lIns="0" tIns="0" rIns="0" bIns="0" rtlCol="0" anchor="t"/>
          <a:lstStyle/>
          <a:p>
            <a:pPr algn="ctr" indent="0" marL="0">
              <a:lnSpc>
                <a:spcPts val="2500"/>
              </a:lnSpc>
              <a:buNone/>
            </a:pPr>
            <a:r>
              <a:rPr lang="en-US" sz="2500" b="1" dirty="0">
                <a:solidFill>
                  <a:srgbClr val="384653"/>
                </a:solidFill>
                <a:latin typeface="Barlow Bold" pitchFamily="34" charset="0"/>
                <a:ea typeface="Barlow Bold" pitchFamily="34" charset="-122"/>
                <a:cs typeface="Barlow Bold" pitchFamily="34" charset="-120"/>
              </a:rPr>
              <a:t>2</a:t>
            </a:r>
            <a:endParaRPr lang="en-US" sz="2500" dirty="0"/>
          </a:p>
        </p:txBody>
      </p:sp>
      <p:sp>
        <p:nvSpPr>
          <p:cNvPr id="15" name="Text 12"/>
          <p:cNvSpPr/>
          <p:nvPr/>
        </p:nvSpPr>
        <p:spPr>
          <a:xfrm>
            <a:off x="7439620" y="4664035"/>
            <a:ext cx="2670215" cy="333732"/>
          </a:xfrm>
          <a:prstGeom prst="rect">
            <a:avLst/>
          </a:prstGeom>
          <a:noFill/>
          <a:ln/>
        </p:spPr>
        <p:txBody>
          <a:bodyPr wrap="none" lIns="0" tIns="0" rIns="0" bIns="0" rtlCol="0" anchor="t"/>
          <a:lstStyle/>
          <a:p>
            <a:pPr algn="l" indent="0" marL="0">
              <a:lnSpc>
                <a:spcPts val="2600"/>
              </a:lnSpc>
              <a:buNone/>
            </a:pPr>
            <a:r>
              <a:rPr lang="en-US" sz="2100" b="1" dirty="0">
                <a:solidFill>
                  <a:srgbClr val="384653"/>
                </a:solidFill>
                <a:latin typeface="Barlow Bold" pitchFamily="34" charset="0"/>
                <a:ea typeface="Barlow Bold" pitchFamily="34" charset="-122"/>
                <a:cs typeface="Barlow Bold" pitchFamily="34" charset="-120"/>
              </a:rPr>
              <a:t>Tối Ưu Hóa Q1</a:t>
            </a:r>
            <a:endParaRPr lang="en-US" sz="2100" dirty="0"/>
          </a:p>
        </p:txBody>
      </p:sp>
      <p:sp>
        <p:nvSpPr>
          <p:cNvPr id="16" name="Text 13"/>
          <p:cNvSpPr/>
          <p:nvPr/>
        </p:nvSpPr>
        <p:spPr>
          <a:xfrm>
            <a:off x="7439620" y="5119449"/>
            <a:ext cx="6480572" cy="974408"/>
          </a:xfrm>
          <a:prstGeom prst="rect">
            <a:avLst/>
          </a:prstGeom>
          <a:noFill/>
          <a:ln/>
        </p:spPr>
        <p:txBody>
          <a:bodyPr wrap="square" lIns="0" tIns="0" rIns="0" bIns="0" rtlCol="0" anchor="t"/>
          <a:lstStyle/>
          <a:p>
            <a:pPr algn="l" indent="0" marL="0">
              <a:lnSpc>
                <a:spcPts val="2550"/>
              </a:lnSpc>
              <a:buNone/>
            </a:pPr>
            <a:r>
              <a:rPr lang="en-US" sz="1550" dirty="0">
                <a:solidFill>
                  <a:srgbClr val="384653"/>
                </a:solidFill>
                <a:latin typeface="Montserrat" pitchFamily="34" charset="0"/>
                <a:ea typeface="Montserrat" pitchFamily="34" charset="-122"/>
                <a:cs typeface="Montserrat" pitchFamily="34" charset="-120"/>
              </a:rPr>
              <a:t>Kiểm toán hiệu suất tập trung vào giảm dung lượng bộ nhớ và hiệu quả </a:t>
            </a:r>
            <a:pPr algn="l" indent="0" marL="0">
              <a:lnSpc>
                <a:spcPts val="2550"/>
              </a:lnSpc>
              <a:buNone/>
            </a:pPr>
            <a:r>
              <a:rPr lang="en-US" sz="1550" b="1" dirty="0">
                <a:solidFill>
                  <a:srgbClr val="384653"/>
                </a:solidFill>
                <a:latin typeface="Montserrat" pitchFamily="34" charset="0"/>
                <a:ea typeface="Montserrat" pitchFamily="34" charset="-122"/>
                <a:cs typeface="Montserrat" pitchFamily="34" charset="-120"/>
              </a:rPr>
              <a:t>CPU</a:t>
            </a:r>
            <a:pPr algn="l" indent="0" marL="0">
              <a:lnSpc>
                <a:spcPts val="2550"/>
              </a:lnSpc>
              <a:buNone/>
            </a:pPr>
            <a:r>
              <a:rPr lang="en-US" sz="1550" dirty="0">
                <a:solidFill>
                  <a:srgbClr val="384653"/>
                </a:solidFill>
                <a:latin typeface="Montserrat" pitchFamily="34" charset="0"/>
                <a:ea typeface="Montserrat" pitchFamily="34" charset="-122"/>
                <a:cs typeface="Montserrat" pitchFamily="34" charset="-120"/>
              </a:rPr>
              <a:t> trên các thiết bị Android cấp thấp. Hoàn thiện tính đa nền tảng.</a:t>
            </a:r>
            <a:endParaRPr lang="en-US" sz="1550" dirty="0"/>
          </a:p>
        </p:txBody>
      </p:sp>
      <p:sp>
        <p:nvSpPr>
          <p:cNvPr id="17" name="Shape 14"/>
          <p:cNvSpPr/>
          <p:nvPr/>
        </p:nvSpPr>
        <p:spPr>
          <a:xfrm>
            <a:off x="6630293" y="6716554"/>
            <a:ext cx="608767" cy="22860"/>
          </a:xfrm>
          <a:prstGeom prst="roundRect">
            <a:avLst>
              <a:gd name="adj" fmla="val 1331656"/>
            </a:avLst>
          </a:prstGeom>
          <a:solidFill>
            <a:srgbClr val="BACFDD"/>
          </a:solidFill>
          <a:ln/>
        </p:spPr>
      </p:sp>
      <p:sp>
        <p:nvSpPr>
          <p:cNvPr id="18" name="Shape 15"/>
          <p:cNvSpPr/>
          <p:nvPr/>
        </p:nvSpPr>
        <p:spPr>
          <a:xfrm>
            <a:off x="6196548" y="6499741"/>
            <a:ext cx="456605" cy="456605"/>
          </a:xfrm>
          <a:prstGeom prst="roundRect">
            <a:avLst>
              <a:gd name="adj" fmla="val 66670"/>
            </a:avLst>
          </a:prstGeom>
          <a:solidFill>
            <a:srgbClr val="D4E9F7"/>
          </a:solidFill>
          <a:ln w="7620">
            <a:solidFill>
              <a:srgbClr val="BACFDD"/>
            </a:solidFill>
            <a:prstDash val="solid"/>
          </a:ln>
        </p:spPr>
      </p:sp>
      <p:sp>
        <p:nvSpPr>
          <p:cNvPr id="19" name="Text 16"/>
          <p:cNvSpPr/>
          <p:nvPr/>
        </p:nvSpPr>
        <p:spPr>
          <a:xfrm>
            <a:off x="6264593" y="6527721"/>
            <a:ext cx="320397" cy="400526"/>
          </a:xfrm>
          <a:prstGeom prst="rect">
            <a:avLst/>
          </a:prstGeom>
          <a:noFill/>
          <a:ln/>
        </p:spPr>
        <p:txBody>
          <a:bodyPr wrap="none" lIns="0" tIns="0" rIns="0" bIns="0" rtlCol="0" anchor="t"/>
          <a:lstStyle/>
          <a:p>
            <a:pPr algn="ctr" indent="0" marL="0">
              <a:lnSpc>
                <a:spcPts val="2500"/>
              </a:lnSpc>
              <a:buNone/>
            </a:pPr>
            <a:r>
              <a:rPr lang="en-US" sz="2500" b="1" dirty="0">
                <a:solidFill>
                  <a:srgbClr val="384653"/>
                </a:solidFill>
                <a:latin typeface="Barlow Bold" pitchFamily="34" charset="0"/>
                <a:ea typeface="Barlow Bold" pitchFamily="34" charset="-122"/>
                <a:cs typeface="Barlow Bold" pitchFamily="34" charset="-120"/>
              </a:rPr>
              <a:t>3</a:t>
            </a:r>
            <a:endParaRPr lang="en-US" sz="2500" dirty="0"/>
          </a:p>
        </p:txBody>
      </p:sp>
      <p:sp>
        <p:nvSpPr>
          <p:cNvPr id="20" name="Text 17"/>
          <p:cNvSpPr/>
          <p:nvPr/>
        </p:nvSpPr>
        <p:spPr>
          <a:xfrm>
            <a:off x="7439620" y="6569393"/>
            <a:ext cx="2670215" cy="333732"/>
          </a:xfrm>
          <a:prstGeom prst="rect">
            <a:avLst/>
          </a:prstGeom>
          <a:noFill/>
          <a:ln/>
        </p:spPr>
        <p:txBody>
          <a:bodyPr wrap="none" lIns="0" tIns="0" rIns="0" bIns="0" rtlCol="0" anchor="t"/>
          <a:lstStyle/>
          <a:p>
            <a:pPr algn="l" indent="0" marL="0">
              <a:lnSpc>
                <a:spcPts val="2600"/>
              </a:lnSpc>
              <a:buNone/>
            </a:pPr>
            <a:r>
              <a:rPr lang="en-US" sz="2100" b="1" dirty="0">
                <a:solidFill>
                  <a:srgbClr val="384653"/>
                </a:solidFill>
                <a:latin typeface="Barlow Bold" pitchFamily="34" charset="0"/>
                <a:ea typeface="Barlow Bold" pitchFamily="34" charset="-122"/>
                <a:cs typeface="Barlow Bold" pitchFamily="34" charset="-120"/>
              </a:rPr>
              <a:t>Mở Rộng Q2</a:t>
            </a:r>
            <a:endParaRPr lang="en-US" sz="2100" dirty="0"/>
          </a:p>
        </p:txBody>
      </p:sp>
      <p:sp>
        <p:nvSpPr>
          <p:cNvPr id="21" name="Text 18"/>
          <p:cNvSpPr/>
          <p:nvPr/>
        </p:nvSpPr>
        <p:spPr>
          <a:xfrm>
            <a:off x="7439620" y="7024807"/>
            <a:ext cx="6480572" cy="649605"/>
          </a:xfrm>
          <a:prstGeom prst="rect">
            <a:avLst/>
          </a:prstGeom>
          <a:noFill/>
          <a:ln/>
        </p:spPr>
        <p:txBody>
          <a:bodyPr wrap="square" lIns="0" tIns="0" rIns="0" bIns="0" rtlCol="0" anchor="t"/>
          <a:lstStyle/>
          <a:p>
            <a:pPr algn="l" indent="0" marL="0">
              <a:lnSpc>
                <a:spcPts val="2550"/>
              </a:lnSpc>
              <a:buNone/>
            </a:pPr>
            <a:r>
              <a:rPr lang="en-US" sz="1550" dirty="0">
                <a:solidFill>
                  <a:srgbClr val="384653"/>
                </a:solidFill>
                <a:latin typeface="Montserrat" pitchFamily="34" charset="0"/>
                <a:ea typeface="Montserrat" pitchFamily="34" charset="-122"/>
                <a:cs typeface="Montserrat" pitchFamily="34" charset="-120"/>
              </a:rPr>
              <a:t>Phát triển </a:t>
            </a:r>
            <a:pPr algn="l" indent="0" marL="0">
              <a:lnSpc>
                <a:spcPts val="2550"/>
              </a:lnSpc>
              <a:buNone/>
            </a:pPr>
            <a:r>
              <a:rPr lang="en-US" sz="1550" b="1" dirty="0">
                <a:solidFill>
                  <a:srgbClr val="384653"/>
                </a:solidFill>
                <a:latin typeface="Montserrat" pitchFamily="34" charset="0"/>
                <a:ea typeface="Montserrat" pitchFamily="34" charset="-122"/>
                <a:cs typeface="Montserrat" pitchFamily="34" charset="-120"/>
              </a:rPr>
              <a:t>Sociable Bot API</a:t>
            </a:r>
            <a:pPr algn="l" indent="0" marL="0">
              <a:lnSpc>
                <a:spcPts val="2550"/>
              </a:lnSpc>
              <a:buNone/>
            </a:pPr>
            <a:r>
              <a:rPr lang="en-US" sz="1550" dirty="0">
                <a:solidFill>
                  <a:srgbClr val="384653"/>
                </a:solidFill>
                <a:latin typeface="Montserrat" pitchFamily="34" charset="0"/>
                <a:ea typeface="Montserrat" pitchFamily="34" charset="-122"/>
                <a:cs typeface="Montserrat" pitchFamily="34" charset="-120"/>
              </a:rPr>
              <a:t> để hỗ trợ việc quản lý "Server" mang tính chuyên nghiệp cộng đồng lớn.</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30198" y="495181"/>
            <a:ext cx="2369463" cy="296108"/>
          </a:xfrm>
          <a:prstGeom prst="rect">
            <a:avLst/>
          </a:prstGeom>
          <a:noFill/>
          <a:ln/>
        </p:spPr>
        <p:txBody>
          <a:bodyPr wrap="none" lIns="0" tIns="0" rIns="0" bIns="0" rtlCol="0" anchor="t"/>
          <a:lstStyle/>
          <a:p>
            <a:pPr algn="l" indent="0" marL="0">
              <a:lnSpc>
                <a:spcPts val="2300"/>
              </a:lnSpc>
              <a:buNone/>
            </a:pPr>
            <a:r>
              <a:rPr lang="en-US" sz="1850" b="1" dirty="0">
                <a:solidFill>
                  <a:srgbClr val="2E3C4E"/>
                </a:solidFill>
                <a:latin typeface="Barlow Bold" pitchFamily="34" charset="0"/>
                <a:ea typeface="Barlow Bold" pitchFamily="34" charset="-122"/>
                <a:cs typeface="Barlow Bold" pitchFamily="34" charset="-120"/>
              </a:rPr>
              <a:t>Tóm Tắt</a:t>
            </a:r>
            <a:endParaRPr lang="en-US" sz="1850" dirty="0"/>
          </a:p>
        </p:txBody>
      </p:sp>
      <p:sp>
        <p:nvSpPr>
          <p:cNvPr id="3" name="Text 1"/>
          <p:cNvSpPr/>
          <p:nvPr/>
        </p:nvSpPr>
        <p:spPr>
          <a:xfrm>
            <a:off x="630198" y="863322"/>
            <a:ext cx="12271415" cy="473869"/>
          </a:xfrm>
          <a:prstGeom prst="rect">
            <a:avLst/>
          </a:prstGeom>
          <a:noFill/>
          <a:ln/>
        </p:spPr>
        <p:txBody>
          <a:bodyPr wrap="none" lIns="0" tIns="0" rIns="0" bIns="0" rtlCol="0" anchor="t"/>
          <a:lstStyle/>
          <a:p>
            <a:pPr algn="l" indent="0" marL="0">
              <a:lnSpc>
                <a:spcPts val="3700"/>
              </a:lnSpc>
              <a:buNone/>
            </a:pPr>
            <a:r>
              <a:rPr lang="en-US" sz="2950" b="1" dirty="0">
                <a:solidFill>
                  <a:srgbClr val="2E3C4E"/>
                </a:solidFill>
                <a:latin typeface="Barlow Bold" pitchFamily="34" charset="0"/>
                <a:ea typeface="Barlow Bold" pitchFamily="34" charset="-122"/>
                <a:cs typeface="Barlow Bold" pitchFamily="34" charset="-120"/>
              </a:rPr>
              <a:t>Lợi Thế Của Sociable: Hiện Đại, Tương Tác, Lấy Cộng Đồng Làm Trung Tâm</a:t>
            </a:r>
            <a:endParaRPr lang="en-US" sz="2950" dirty="0"/>
          </a:p>
        </p:txBody>
      </p:sp>
      <p:sp>
        <p:nvSpPr>
          <p:cNvPr id="4" name="Text 2"/>
          <p:cNvSpPr/>
          <p:nvPr/>
        </p:nvSpPr>
        <p:spPr>
          <a:xfrm>
            <a:off x="630198" y="1769269"/>
            <a:ext cx="7846219" cy="576263"/>
          </a:xfrm>
          <a:prstGeom prst="rect">
            <a:avLst/>
          </a:prstGeom>
          <a:noFill/>
          <a:ln/>
        </p:spPr>
        <p:txBody>
          <a:bodyPr wrap="square" lIns="0" tIns="0" rIns="0" bIns="0" rtlCol="0" anchor="t"/>
          <a:lstStyle/>
          <a:p>
            <a:pPr algn="l" marL="342900" indent="-342900">
              <a:lnSpc>
                <a:spcPts val="2250"/>
              </a:lnSpc>
              <a:buSzPct val="100000"/>
              <a:buChar char="•"/>
            </a:pPr>
            <a:r>
              <a:rPr lang="en-US" sz="1400" b="1" dirty="0">
                <a:solidFill>
                  <a:srgbClr val="384653"/>
                </a:solidFill>
                <a:latin typeface="Montserrat" pitchFamily="34" charset="0"/>
                <a:ea typeface="Montserrat" pitchFamily="34" charset="-122"/>
                <a:cs typeface="Montserrat" pitchFamily="34" charset="-120"/>
              </a:rPr>
              <a:t>Phát Triển Thống Nhất:</a:t>
            </a:r>
            <a:pPr algn="l" indent="0" marL="0">
              <a:lnSpc>
                <a:spcPts val="2250"/>
              </a:lnSpc>
              <a:buNone/>
            </a:pPr>
            <a:r>
              <a:rPr lang="en-US" sz="1400" dirty="0">
                <a:solidFill>
                  <a:srgbClr val="384653"/>
                </a:solidFill>
                <a:latin typeface="Montserrat" pitchFamily="34" charset="0"/>
                <a:ea typeface="Montserrat" pitchFamily="34" charset="-122"/>
                <a:cs typeface="Montserrat" pitchFamily="34" charset="-120"/>
              </a:rPr>
              <a:t> Tận dụng Flutter để có tính nhất quán và tốc độ vượt trội trên nhiều nền tảng.</a:t>
            </a:r>
            <a:endParaRPr lang="en-US" sz="1400" dirty="0"/>
          </a:p>
        </p:txBody>
      </p:sp>
      <p:sp>
        <p:nvSpPr>
          <p:cNvPr id="5" name="Text 3"/>
          <p:cNvSpPr/>
          <p:nvPr/>
        </p:nvSpPr>
        <p:spPr>
          <a:xfrm>
            <a:off x="630198" y="2408515"/>
            <a:ext cx="7846219" cy="288131"/>
          </a:xfrm>
          <a:prstGeom prst="rect">
            <a:avLst/>
          </a:prstGeom>
          <a:noFill/>
          <a:ln/>
        </p:spPr>
        <p:txBody>
          <a:bodyPr wrap="none" lIns="0" tIns="0" rIns="0" bIns="0" rtlCol="0" anchor="t"/>
          <a:lstStyle/>
          <a:p>
            <a:pPr algn="l" marL="342900" indent="-342900">
              <a:lnSpc>
                <a:spcPts val="2250"/>
              </a:lnSpc>
              <a:buSzPct val="100000"/>
              <a:buChar char="•"/>
            </a:pPr>
            <a:r>
              <a:rPr lang="en-US" sz="1400" b="1" dirty="0">
                <a:solidFill>
                  <a:srgbClr val="384653"/>
                </a:solidFill>
                <a:latin typeface="Montserrat" pitchFamily="34" charset="0"/>
                <a:ea typeface="Montserrat" pitchFamily="34" charset="-122"/>
                <a:cs typeface="Montserrat" pitchFamily="34" charset="-120"/>
              </a:rPr>
              <a:t>Lõi Thời Gian Thực:</a:t>
            </a:r>
            <a:pPr algn="l" indent="0" marL="0">
              <a:lnSpc>
                <a:spcPts val="2250"/>
              </a:lnSpc>
              <a:buNone/>
            </a:pPr>
            <a:r>
              <a:rPr lang="en-US" sz="1400" dirty="0">
                <a:solidFill>
                  <a:srgbClr val="384653"/>
                </a:solidFill>
                <a:latin typeface="Montserrat" pitchFamily="34" charset="0"/>
                <a:ea typeface="Montserrat" pitchFamily="34" charset="-122"/>
                <a:cs typeface="Montserrat" pitchFamily="34" charset="-120"/>
              </a:rPr>
              <a:t> Tích hợp mạnh mẽ cho thoại, video và tin nhắn hàng đầu.</a:t>
            </a:r>
            <a:endParaRPr lang="en-US" sz="1400" dirty="0"/>
          </a:p>
        </p:txBody>
      </p:sp>
      <p:sp>
        <p:nvSpPr>
          <p:cNvPr id="6" name="Text 4"/>
          <p:cNvSpPr/>
          <p:nvPr/>
        </p:nvSpPr>
        <p:spPr>
          <a:xfrm>
            <a:off x="630198" y="2759631"/>
            <a:ext cx="7846219" cy="288131"/>
          </a:xfrm>
          <a:prstGeom prst="rect">
            <a:avLst/>
          </a:prstGeom>
          <a:noFill/>
          <a:ln/>
        </p:spPr>
        <p:txBody>
          <a:bodyPr wrap="none" lIns="0" tIns="0" rIns="0" bIns="0" rtlCol="0" anchor="t"/>
          <a:lstStyle/>
          <a:p>
            <a:pPr algn="l" marL="342900" indent="-342900">
              <a:lnSpc>
                <a:spcPts val="2250"/>
              </a:lnSpc>
              <a:buSzPct val="100000"/>
              <a:buChar char="•"/>
            </a:pPr>
            <a:r>
              <a:rPr lang="en-US" sz="1400" b="1" dirty="0">
                <a:solidFill>
                  <a:srgbClr val="384653"/>
                </a:solidFill>
                <a:latin typeface="Montserrat" pitchFamily="34" charset="0"/>
                <a:ea typeface="Montserrat" pitchFamily="34" charset="-122"/>
                <a:cs typeface="Montserrat" pitchFamily="34" charset="-120"/>
              </a:rPr>
              <a:t>Quy Mô Cộng Đồng:</a:t>
            </a:r>
            <a:pPr algn="l" indent="0" marL="0">
              <a:lnSpc>
                <a:spcPts val="2250"/>
              </a:lnSpc>
              <a:buNone/>
            </a:pPr>
            <a:r>
              <a:rPr lang="en-US" sz="1400" dirty="0">
                <a:solidFill>
                  <a:srgbClr val="384653"/>
                </a:solidFill>
                <a:latin typeface="Montserrat" pitchFamily="34" charset="0"/>
                <a:ea typeface="Montserrat" pitchFamily="34" charset="-122"/>
                <a:cs typeface="Montserrat" pitchFamily="34" charset="-120"/>
              </a:rPr>
              <a:t> Kiến trúc hỗ trợ các cộng đồng rộng lớn, tương tác cao.</a:t>
            </a:r>
            <a:endParaRPr lang="en-US" sz="1400" dirty="0"/>
          </a:p>
        </p:txBody>
      </p:sp>
      <p:sp>
        <p:nvSpPr>
          <p:cNvPr id="7" name="Text 5"/>
          <p:cNvSpPr/>
          <p:nvPr/>
        </p:nvSpPr>
        <p:spPr>
          <a:xfrm>
            <a:off x="630198" y="3110746"/>
            <a:ext cx="7846219" cy="288131"/>
          </a:xfrm>
          <a:prstGeom prst="rect">
            <a:avLst/>
          </a:prstGeom>
          <a:noFill/>
          <a:ln/>
        </p:spPr>
        <p:txBody>
          <a:bodyPr wrap="none" lIns="0" tIns="0" rIns="0" bIns="0" rtlCol="0" anchor="t"/>
          <a:lstStyle/>
          <a:p>
            <a:pPr algn="l" marL="342900" indent="-342900">
              <a:lnSpc>
                <a:spcPts val="2250"/>
              </a:lnSpc>
              <a:buSzPct val="100000"/>
              <a:buChar char="•"/>
            </a:pPr>
            <a:r>
              <a:rPr lang="en-US" sz="1400" b="1" dirty="0">
                <a:solidFill>
                  <a:srgbClr val="384653"/>
                </a:solidFill>
                <a:latin typeface="Montserrat" pitchFamily="34" charset="0"/>
                <a:ea typeface="Montserrat" pitchFamily="34" charset="-122"/>
                <a:cs typeface="Montserrat" pitchFamily="34" charset="-120"/>
              </a:rPr>
              <a:t>Tập Trung Nhà Phát Triển:</a:t>
            </a:r>
            <a:pPr algn="l" indent="0" marL="0">
              <a:lnSpc>
                <a:spcPts val="2250"/>
              </a:lnSpc>
              <a:buNone/>
            </a:pPr>
            <a:r>
              <a:rPr lang="en-US" sz="1400" dirty="0">
                <a:solidFill>
                  <a:srgbClr val="384653"/>
                </a:solidFill>
                <a:latin typeface="Montserrat" pitchFamily="34" charset="0"/>
                <a:ea typeface="Montserrat" pitchFamily="34" charset="-122"/>
                <a:cs typeface="Montserrat" pitchFamily="34" charset="-120"/>
              </a:rPr>
              <a:t> Ưu tiên kiến trúc sạch, dễ bảo trì, khả năng kiểm thử.</a:t>
            </a:r>
            <a:endParaRPr lang="en-US" sz="1400" dirty="0"/>
          </a:p>
        </p:txBody>
      </p:sp>
      <p:sp>
        <p:nvSpPr>
          <p:cNvPr id="8" name="Text 6"/>
          <p:cNvSpPr/>
          <p:nvPr/>
        </p:nvSpPr>
        <p:spPr>
          <a:xfrm>
            <a:off x="630198" y="3461861"/>
            <a:ext cx="7846219" cy="576263"/>
          </a:xfrm>
          <a:prstGeom prst="rect">
            <a:avLst/>
          </a:prstGeom>
          <a:noFill/>
          <a:ln/>
        </p:spPr>
        <p:txBody>
          <a:bodyPr wrap="square" lIns="0" tIns="0" rIns="0" bIns="0" rtlCol="0" anchor="t"/>
          <a:lstStyle/>
          <a:p>
            <a:pPr algn="l" marL="342900" indent="-342900">
              <a:lnSpc>
                <a:spcPts val="2250"/>
              </a:lnSpc>
              <a:buSzPct val="100000"/>
              <a:buChar char="•"/>
            </a:pPr>
            <a:r>
              <a:rPr lang="en-US" sz="1400" b="1" dirty="0">
                <a:solidFill>
                  <a:srgbClr val="384653"/>
                </a:solidFill>
                <a:latin typeface="Montserrat" pitchFamily="34" charset="0"/>
                <a:ea typeface="Montserrat" pitchFamily="34" charset="-122"/>
                <a:cs typeface="Montserrat" pitchFamily="34" charset="-120"/>
              </a:rPr>
              <a:t>Quyền Riêng Tư Người Dùng:</a:t>
            </a:r>
            <a:pPr algn="l" indent="0" marL="0">
              <a:lnSpc>
                <a:spcPts val="2250"/>
              </a:lnSpc>
              <a:buNone/>
            </a:pPr>
            <a:r>
              <a:rPr lang="en-US" sz="1400" dirty="0">
                <a:solidFill>
                  <a:srgbClr val="384653"/>
                </a:solidFill>
                <a:latin typeface="Montserrat" pitchFamily="34" charset="0"/>
                <a:ea typeface="Montserrat" pitchFamily="34" charset="-122"/>
                <a:cs typeface="Montserrat" pitchFamily="34" charset="-120"/>
              </a:rPr>
              <a:t> Cam kết mã hóa và các giao thức xử lý dữ liệu an toàn.</a:t>
            </a:r>
            <a:endParaRPr lang="en-US" sz="1400" dirty="0"/>
          </a:p>
        </p:txBody>
      </p:sp>
      <p:pic>
        <p:nvPicPr>
          <p:cNvPr id="9" name="Image 0" descr="preencoded.png">    </p:cNvPr>
          <p:cNvPicPr>
            <a:picLocks noChangeAspect="1"/>
          </p:cNvPicPr>
          <p:nvPr/>
        </p:nvPicPr>
        <p:blipFill>
          <a:blip r:embed="rId1"/>
          <a:stretch>
            <a:fillRect/>
          </a:stretch>
        </p:blipFill>
        <p:spPr>
          <a:xfrm>
            <a:off x="8923377" y="1809750"/>
            <a:ext cx="5084326" cy="5084326"/>
          </a:xfrm>
          <a:prstGeom prst="rect">
            <a:avLst/>
          </a:prstGeom>
        </p:spPr>
      </p:pic>
      <p:sp>
        <p:nvSpPr>
          <p:cNvPr id="10" name="Shape 7"/>
          <p:cNvSpPr/>
          <p:nvPr/>
        </p:nvSpPr>
        <p:spPr>
          <a:xfrm>
            <a:off x="630198" y="7299127"/>
            <a:ext cx="13370004" cy="765215"/>
          </a:xfrm>
          <a:prstGeom prst="roundRect">
            <a:avLst>
              <a:gd name="adj" fmla="val 35301"/>
            </a:avLst>
          </a:prstGeom>
          <a:solidFill>
            <a:srgbClr val="BEDFF3"/>
          </a:solidFill>
          <a:ln/>
        </p:spPr>
      </p:sp>
      <p:pic>
        <p:nvPicPr>
          <p:cNvPr id="11" name="Image 1" descr="preencoded.png">    </p:cNvPr>
          <p:cNvPicPr>
            <a:picLocks noChangeAspect="1"/>
          </p:cNvPicPr>
          <p:nvPr/>
        </p:nvPicPr>
        <p:blipFill>
          <a:blip r:embed="rId2"/>
          <a:stretch>
            <a:fillRect/>
          </a:stretch>
        </p:blipFill>
        <p:spPr>
          <a:xfrm>
            <a:off x="810220" y="7572375"/>
            <a:ext cx="225028" cy="180023"/>
          </a:xfrm>
          <a:prstGeom prst="rect">
            <a:avLst/>
          </a:prstGeom>
        </p:spPr>
      </p:pic>
      <p:sp>
        <p:nvSpPr>
          <p:cNvPr id="12" name="Text 8"/>
          <p:cNvSpPr/>
          <p:nvPr/>
        </p:nvSpPr>
        <p:spPr>
          <a:xfrm>
            <a:off x="1215271" y="7524155"/>
            <a:ext cx="12604909" cy="288131"/>
          </a:xfrm>
          <a:prstGeom prst="rect">
            <a:avLst/>
          </a:prstGeom>
          <a:noFill/>
          <a:ln/>
        </p:spPr>
        <p:txBody>
          <a:bodyPr wrap="none" lIns="0" tIns="0" rIns="0" bIns="0" rtlCol="0" anchor="t"/>
          <a:lstStyle/>
          <a:p>
            <a:pPr algn="l" indent="0" marL="0">
              <a:lnSpc>
                <a:spcPts val="2250"/>
              </a:lnSpc>
              <a:buNone/>
            </a:pPr>
            <a:r>
              <a:rPr lang="en-US" sz="1400" dirty="0">
                <a:solidFill>
                  <a:srgbClr val="000000"/>
                </a:solidFill>
                <a:latin typeface="Montserrat" pitchFamily="34" charset="0"/>
                <a:ea typeface="Montserrat" pitchFamily="34" charset="-122"/>
                <a:cs typeface="Montserrat" pitchFamily="34" charset="-120"/>
              </a:rPr>
              <a:t>Sociable không chỉ là một ứng dụng; nó là một nền tảng có thể mở rộng được xây dựng cho tương lai của tương tác xã hội số.</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58309" y="1200745"/>
            <a:ext cx="7421761" cy="712708"/>
          </a:xfrm>
          <a:prstGeom prst="rect">
            <a:avLst/>
          </a:prstGeom>
          <a:noFill/>
          <a:ln/>
        </p:spPr>
        <p:txBody>
          <a:bodyPr wrap="none" lIns="0" tIns="0" rIns="0" bIns="0" rtlCol="0" anchor="t"/>
          <a:lstStyle/>
          <a:p>
            <a:pPr algn="l" indent="0" marL="0">
              <a:lnSpc>
                <a:spcPts val="5600"/>
              </a:lnSpc>
              <a:buNone/>
            </a:pPr>
            <a:r>
              <a:rPr lang="en-US" sz="4450" b="1" dirty="0">
                <a:solidFill>
                  <a:srgbClr val="2E3C4E"/>
                </a:solidFill>
                <a:latin typeface="Barlow Bold" pitchFamily="34" charset="0"/>
                <a:ea typeface="Barlow Bold" pitchFamily="34" charset="-122"/>
                <a:cs typeface="Barlow Bold" pitchFamily="34" charset="-120"/>
              </a:rPr>
              <a:t>Các Con Số Thành Công Chính</a:t>
            </a:r>
            <a:endParaRPr lang="en-US" sz="4450" dirty="0"/>
          </a:p>
        </p:txBody>
      </p:sp>
      <p:sp>
        <p:nvSpPr>
          <p:cNvPr id="3" name="Text 1"/>
          <p:cNvSpPr/>
          <p:nvPr/>
        </p:nvSpPr>
        <p:spPr>
          <a:xfrm>
            <a:off x="758309" y="2346722"/>
            <a:ext cx="13113782" cy="346710"/>
          </a:xfrm>
          <a:prstGeom prst="rect">
            <a:avLst/>
          </a:prstGeom>
          <a:noFill/>
          <a:ln/>
        </p:spPr>
        <p:txBody>
          <a:bodyPr wrap="none" lIns="0" tIns="0" rIns="0" bIns="0" rtlCol="0" anchor="t"/>
          <a:lstStyle/>
          <a:p>
            <a:pPr algn="l" indent="0" marL="0">
              <a:lnSpc>
                <a:spcPts val="2700"/>
              </a:lnSpc>
              <a:buNone/>
            </a:pPr>
            <a:r>
              <a:rPr lang="en-US" sz="1700" dirty="0">
                <a:solidFill>
                  <a:srgbClr val="384653"/>
                </a:solidFill>
                <a:latin typeface="Montserrat" pitchFamily="34" charset="0"/>
                <a:ea typeface="Montserrat" pitchFamily="34" charset="-122"/>
                <a:cs typeface="Montserrat" pitchFamily="34" charset="-120"/>
              </a:rPr>
              <a:t>Theo dõi hiệu suất và quản lý nợ kỹ thuật của chúng tôi.</a:t>
            </a:r>
            <a:endParaRPr lang="en-US" sz="1700" dirty="0"/>
          </a:p>
        </p:txBody>
      </p:sp>
      <p:sp>
        <p:nvSpPr>
          <p:cNvPr id="4" name="Shape 2"/>
          <p:cNvSpPr/>
          <p:nvPr/>
        </p:nvSpPr>
        <p:spPr>
          <a:xfrm>
            <a:off x="758309" y="3045381"/>
            <a:ext cx="5387459" cy="270748"/>
          </a:xfrm>
          <a:prstGeom prst="roundRect">
            <a:avLst>
              <a:gd name="adj" fmla="val 120035"/>
            </a:avLst>
          </a:prstGeom>
          <a:solidFill>
            <a:srgbClr val="D4E9F7"/>
          </a:solidFill>
          <a:ln w="7620">
            <a:solidFill>
              <a:srgbClr val="BACFDD"/>
            </a:solidFill>
            <a:prstDash val="solid"/>
          </a:ln>
        </p:spPr>
      </p:sp>
      <p:pic>
        <p:nvPicPr>
          <p:cNvPr id="5" name="Image 0" descr="preencoded.png">    </p:cNvPr>
          <p:cNvPicPr>
            <a:picLocks noChangeAspect="1"/>
          </p:cNvPicPr>
          <p:nvPr/>
        </p:nvPicPr>
        <p:blipFill>
          <a:blip r:embed="rId1"/>
          <a:stretch>
            <a:fillRect/>
          </a:stretch>
        </p:blipFill>
        <p:spPr>
          <a:xfrm>
            <a:off x="758309" y="3045381"/>
            <a:ext cx="5386864" cy="270748"/>
          </a:xfrm>
          <a:prstGeom prst="rect">
            <a:avLst/>
          </a:prstGeom>
        </p:spPr>
      </p:pic>
      <p:sp>
        <p:nvSpPr>
          <p:cNvPr id="6" name="Text 3"/>
          <p:cNvSpPr/>
          <p:nvPr/>
        </p:nvSpPr>
        <p:spPr>
          <a:xfrm>
            <a:off x="6308169" y="3045381"/>
            <a:ext cx="871657" cy="270748"/>
          </a:xfrm>
          <a:prstGeom prst="rect">
            <a:avLst/>
          </a:prstGeom>
          <a:noFill/>
          <a:ln/>
        </p:spPr>
        <p:txBody>
          <a:bodyPr wrap="none" lIns="0" tIns="0" rIns="0" bIns="0" rtlCol="0" anchor="t"/>
          <a:lstStyle/>
          <a:p>
            <a:pPr algn="l" indent="0" marL="0">
              <a:lnSpc>
                <a:spcPts val="2100"/>
              </a:lnSpc>
              <a:buNone/>
            </a:pPr>
            <a:r>
              <a:rPr lang="en-US" sz="2100" b="1" dirty="0">
                <a:solidFill>
                  <a:srgbClr val="384653"/>
                </a:solidFill>
                <a:latin typeface="Barlow Bold" pitchFamily="34" charset="0"/>
                <a:ea typeface="Barlow Bold" pitchFamily="34" charset="-122"/>
                <a:cs typeface="Barlow Bold" pitchFamily="34" charset="-120"/>
              </a:rPr>
              <a:t>99.99%</a:t>
            </a:r>
            <a:endParaRPr lang="en-US" sz="2100" dirty="0"/>
          </a:p>
        </p:txBody>
      </p:sp>
      <p:sp>
        <p:nvSpPr>
          <p:cNvPr id="7" name="Text 4"/>
          <p:cNvSpPr/>
          <p:nvPr/>
        </p:nvSpPr>
        <p:spPr>
          <a:xfrm>
            <a:off x="758309" y="3586758"/>
            <a:ext cx="4202073" cy="356235"/>
          </a:xfrm>
          <a:prstGeom prst="rect">
            <a:avLst/>
          </a:prstGeom>
          <a:noFill/>
          <a:ln/>
        </p:spPr>
        <p:txBody>
          <a:bodyPr wrap="none" lIns="0" tIns="0" rIns="0" bIns="0" rtlCol="0" anchor="t"/>
          <a:lstStyle/>
          <a:p>
            <a:pPr algn="l" indent="0" marL="0">
              <a:lnSpc>
                <a:spcPts val="2800"/>
              </a:lnSpc>
              <a:buNone/>
            </a:pPr>
            <a:r>
              <a:rPr lang="en-US" sz="2200" b="1" dirty="0">
                <a:solidFill>
                  <a:srgbClr val="384653"/>
                </a:solidFill>
                <a:latin typeface="Barlow Bold" pitchFamily="34" charset="0"/>
                <a:ea typeface="Barlow Bold" pitchFamily="34" charset="-122"/>
                <a:cs typeface="Barlow Bold" pitchFamily="34" charset="-120"/>
              </a:rPr>
              <a:t>Mục Tiêu Thời Gian Hoạt Động API</a:t>
            </a:r>
            <a:endParaRPr lang="en-US" sz="2200" dirty="0"/>
          </a:p>
        </p:txBody>
      </p:sp>
      <p:sp>
        <p:nvSpPr>
          <p:cNvPr id="8" name="Text 5"/>
          <p:cNvSpPr/>
          <p:nvPr/>
        </p:nvSpPr>
        <p:spPr>
          <a:xfrm>
            <a:off x="758309" y="4072890"/>
            <a:ext cx="6421517" cy="693420"/>
          </a:xfrm>
          <a:prstGeom prst="rect">
            <a:avLst/>
          </a:prstGeom>
          <a:noFill/>
          <a:ln/>
        </p:spPr>
        <p:txBody>
          <a:bodyPr wrap="square" lIns="0" tIns="0" rIns="0" bIns="0" rtlCol="0" anchor="t"/>
          <a:lstStyle/>
          <a:p>
            <a:pPr algn="l" indent="0" marL="0">
              <a:lnSpc>
                <a:spcPts val="2700"/>
              </a:lnSpc>
              <a:buNone/>
            </a:pPr>
            <a:r>
              <a:rPr lang="en-US" sz="1700" dirty="0">
                <a:solidFill>
                  <a:srgbClr val="384653"/>
                </a:solidFill>
                <a:latin typeface="Montserrat" pitchFamily="34" charset="0"/>
                <a:ea typeface="Montserrat" pitchFamily="34" charset="-122"/>
                <a:cs typeface="Montserrat" pitchFamily="34" charset="-120"/>
              </a:rPr>
              <a:t>Cam kết của chúng tôi về độ tin cậy tối đa cho các dịch vụ thời gian thực.</a:t>
            </a:r>
            <a:endParaRPr lang="en-US" sz="1700" dirty="0"/>
          </a:p>
        </p:txBody>
      </p:sp>
      <p:sp>
        <p:nvSpPr>
          <p:cNvPr id="9" name="Shape 6"/>
          <p:cNvSpPr/>
          <p:nvPr/>
        </p:nvSpPr>
        <p:spPr>
          <a:xfrm>
            <a:off x="7450574" y="3045381"/>
            <a:ext cx="5743337" cy="270748"/>
          </a:xfrm>
          <a:prstGeom prst="roundRect">
            <a:avLst>
              <a:gd name="adj" fmla="val 120035"/>
            </a:avLst>
          </a:prstGeom>
          <a:solidFill>
            <a:srgbClr val="D4E9F7"/>
          </a:solidFill>
          <a:ln w="7620">
            <a:solidFill>
              <a:srgbClr val="BACFDD"/>
            </a:solidFill>
            <a:prstDash val="solid"/>
          </a:ln>
        </p:spPr>
      </p:sp>
      <p:pic>
        <p:nvPicPr>
          <p:cNvPr id="10" name="Image 1" descr="preencoded.png">    </p:cNvPr>
          <p:cNvPicPr>
            <a:picLocks noChangeAspect="1"/>
          </p:cNvPicPr>
          <p:nvPr/>
        </p:nvPicPr>
        <p:blipFill>
          <a:blip r:embed="rId2"/>
          <a:stretch>
            <a:fillRect/>
          </a:stretch>
        </p:blipFill>
        <p:spPr>
          <a:xfrm>
            <a:off x="7450574" y="3045381"/>
            <a:ext cx="4881801" cy="270748"/>
          </a:xfrm>
          <a:prstGeom prst="rect">
            <a:avLst/>
          </a:prstGeom>
        </p:spPr>
      </p:pic>
      <p:sp>
        <p:nvSpPr>
          <p:cNvPr id="11" name="Text 7"/>
          <p:cNvSpPr/>
          <p:nvPr/>
        </p:nvSpPr>
        <p:spPr>
          <a:xfrm>
            <a:off x="13356312" y="3045381"/>
            <a:ext cx="515779" cy="270748"/>
          </a:xfrm>
          <a:prstGeom prst="rect">
            <a:avLst/>
          </a:prstGeom>
          <a:noFill/>
          <a:ln/>
        </p:spPr>
        <p:txBody>
          <a:bodyPr wrap="none" lIns="0" tIns="0" rIns="0" bIns="0" rtlCol="0" anchor="t"/>
          <a:lstStyle/>
          <a:p>
            <a:pPr algn="l" indent="0" marL="0">
              <a:lnSpc>
                <a:spcPts val="2100"/>
              </a:lnSpc>
              <a:buNone/>
            </a:pPr>
            <a:r>
              <a:rPr lang="en-US" sz="2100" b="1" dirty="0">
                <a:solidFill>
                  <a:srgbClr val="384653"/>
                </a:solidFill>
                <a:latin typeface="Barlow Bold" pitchFamily="34" charset="0"/>
                <a:ea typeface="Barlow Bold" pitchFamily="34" charset="-122"/>
                <a:cs typeface="Barlow Bold" pitchFamily="34" charset="-120"/>
              </a:rPr>
              <a:t>85%</a:t>
            </a:r>
            <a:endParaRPr lang="en-US" sz="2100" dirty="0"/>
          </a:p>
        </p:txBody>
      </p:sp>
      <p:sp>
        <p:nvSpPr>
          <p:cNvPr id="12" name="Text 8"/>
          <p:cNvSpPr/>
          <p:nvPr/>
        </p:nvSpPr>
        <p:spPr>
          <a:xfrm>
            <a:off x="7450574" y="3586758"/>
            <a:ext cx="2850713" cy="356235"/>
          </a:xfrm>
          <a:prstGeom prst="rect">
            <a:avLst/>
          </a:prstGeom>
          <a:noFill/>
          <a:ln/>
        </p:spPr>
        <p:txBody>
          <a:bodyPr wrap="none" lIns="0" tIns="0" rIns="0" bIns="0" rtlCol="0" anchor="t"/>
          <a:lstStyle/>
          <a:p>
            <a:pPr algn="l" indent="0" marL="0">
              <a:lnSpc>
                <a:spcPts val="2800"/>
              </a:lnSpc>
              <a:buNone/>
            </a:pPr>
            <a:r>
              <a:rPr lang="en-US" sz="2200" b="1" dirty="0">
                <a:solidFill>
                  <a:srgbClr val="384653"/>
                </a:solidFill>
                <a:latin typeface="Barlow Bold" pitchFamily="34" charset="0"/>
                <a:ea typeface="Barlow Bold" pitchFamily="34" charset="-122"/>
                <a:cs typeface="Barlow Bold" pitchFamily="34" charset="-120"/>
              </a:rPr>
              <a:t>Độ Bao Phủ Kiểm Thử</a:t>
            </a:r>
            <a:endParaRPr lang="en-US" sz="2200" dirty="0"/>
          </a:p>
        </p:txBody>
      </p:sp>
      <p:sp>
        <p:nvSpPr>
          <p:cNvPr id="13" name="Text 9"/>
          <p:cNvSpPr/>
          <p:nvPr/>
        </p:nvSpPr>
        <p:spPr>
          <a:xfrm>
            <a:off x="7450574" y="4072890"/>
            <a:ext cx="6421517" cy="693420"/>
          </a:xfrm>
          <a:prstGeom prst="rect">
            <a:avLst/>
          </a:prstGeom>
          <a:noFill/>
          <a:ln/>
        </p:spPr>
        <p:txBody>
          <a:bodyPr wrap="square" lIns="0" tIns="0" rIns="0" bIns="0" rtlCol="0" anchor="t"/>
          <a:lstStyle/>
          <a:p>
            <a:pPr algn="l" indent="0" marL="0">
              <a:lnSpc>
                <a:spcPts val="2700"/>
              </a:lnSpc>
              <a:buNone/>
            </a:pPr>
            <a:r>
              <a:rPr lang="en-US" sz="1700" dirty="0">
                <a:solidFill>
                  <a:srgbClr val="384653"/>
                </a:solidFill>
                <a:latin typeface="Montserrat" pitchFamily="34" charset="0"/>
                <a:ea typeface="Montserrat" pitchFamily="34" charset="-122"/>
                <a:cs typeface="Montserrat" pitchFamily="34" charset="-120"/>
              </a:rPr>
              <a:t>Duy trì chất lượng cao thông qua kiểm thử tự động nghiêm ngặt.</a:t>
            </a:r>
            <a:endParaRPr lang="en-US" sz="1700" dirty="0"/>
          </a:p>
        </p:txBody>
      </p:sp>
      <p:sp>
        <p:nvSpPr>
          <p:cNvPr id="14" name="Shape 10"/>
          <p:cNvSpPr/>
          <p:nvPr/>
        </p:nvSpPr>
        <p:spPr>
          <a:xfrm>
            <a:off x="758309" y="5307806"/>
            <a:ext cx="5737622" cy="270748"/>
          </a:xfrm>
          <a:prstGeom prst="roundRect">
            <a:avLst>
              <a:gd name="adj" fmla="val 120035"/>
            </a:avLst>
          </a:prstGeom>
          <a:solidFill>
            <a:srgbClr val="D4E9F7"/>
          </a:solidFill>
          <a:ln w="7620">
            <a:solidFill>
              <a:srgbClr val="BACFDD"/>
            </a:solidFill>
            <a:prstDash val="solid"/>
          </a:ln>
        </p:spPr>
      </p:sp>
      <p:pic>
        <p:nvPicPr>
          <p:cNvPr id="15" name="Image 2" descr="preencoded.png">    </p:cNvPr>
          <p:cNvPicPr>
            <a:picLocks noChangeAspect="1"/>
          </p:cNvPicPr>
          <p:nvPr/>
        </p:nvPicPr>
        <p:blipFill>
          <a:blip r:embed="rId3"/>
          <a:stretch>
            <a:fillRect/>
          </a:stretch>
        </p:blipFill>
        <p:spPr>
          <a:xfrm>
            <a:off x="758309" y="5307806"/>
            <a:ext cx="5163860" cy="270748"/>
          </a:xfrm>
          <a:prstGeom prst="rect">
            <a:avLst/>
          </a:prstGeom>
        </p:spPr>
      </p:pic>
      <p:sp>
        <p:nvSpPr>
          <p:cNvPr id="16" name="Text 11"/>
          <p:cNvSpPr/>
          <p:nvPr/>
        </p:nvSpPr>
        <p:spPr>
          <a:xfrm>
            <a:off x="6658332" y="5307806"/>
            <a:ext cx="521494" cy="270748"/>
          </a:xfrm>
          <a:prstGeom prst="rect">
            <a:avLst/>
          </a:prstGeom>
          <a:noFill/>
          <a:ln/>
        </p:spPr>
        <p:txBody>
          <a:bodyPr wrap="none" lIns="0" tIns="0" rIns="0" bIns="0" rtlCol="0" anchor="t"/>
          <a:lstStyle/>
          <a:p>
            <a:pPr algn="l" indent="0" marL="0">
              <a:lnSpc>
                <a:spcPts val="2100"/>
              </a:lnSpc>
              <a:buNone/>
            </a:pPr>
            <a:r>
              <a:rPr lang="en-US" sz="2100" b="1" dirty="0">
                <a:solidFill>
                  <a:srgbClr val="384653"/>
                </a:solidFill>
                <a:latin typeface="Barlow Bold" pitchFamily="34" charset="0"/>
                <a:ea typeface="Barlow Bold" pitchFamily="34" charset="-122"/>
                <a:cs typeface="Barlow Bold" pitchFamily="34" charset="-120"/>
              </a:rPr>
              <a:t>90%</a:t>
            </a:r>
            <a:endParaRPr lang="en-US" sz="2100" dirty="0"/>
          </a:p>
        </p:txBody>
      </p:sp>
      <p:sp>
        <p:nvSpPr>
          <p:cNvPr id="17" name="Text 12"/>
          <p:cNvSpPr/>
          <p:nvPr/>
        </p:nvSpPr>
        <p:spPr>
          <a:xfrm>
            <a:off x="758309" y="5849183"/>
            <a:ext cx="3159919" cy="356235"/>
          </a:xfrm>
          <a:prstGeom prst="rect">
            <a:avLst/>
          </a:prstGeom>
          <a:noFill/>
          <a:ln/>
        </p:spPr>
        <p:txBody>
          <a:bodyPr wrap="none" lIns="0" tIns="0" rIns="0" bIns="0" rtlCol="0" anchor="t"/>
          <a:lstStyle/>
          <a:p>
            <a:pPr algn="l" indent="0" marL="0">
              <a:lnSpc>
                <a:spcPts val="2800"/>
              </a:lnSpc>
              <a:buNone/>
            </a:pPr>
            <a:r>
              <a:rPr lang="en-US" sz="2200" b="1" dirty="0">
                <a:solidFill>
                  <a:srgbClr val="384653"/>
                </a:solidFill>
                <a:latin typeface="Barlow Bold" pitchFamily="34" charset="0"/>
                <a:ea typeface="Barlow Bold" pitchFamily="34" charset="-122"/>
                <a:cs typeface="Barlow Bold" pitchFamily="34" charset="-120"/>
              </a:rPr>
              <a:t>Giữ Chân Người Dùng (D7)</a:t>
            </a:r>
            <a:endParaRPr lang="en-US" sz="2200" dirty="0"/>
          </a:p>
        </p:txBody>
      </p:sp>
      <p:sp>
        <p:nvSpPr>
          <p:cNvPr id="18" name="Text 13"/>
          <p:cNvSpPr/>
          <p:nvPr/>
        </p:nvSpPr>
        <p:spPr>
          <a:xfrm>
            <a:off x="758309" y="6335316"/>
            <a:ext cx="6421517" cy="693420"/>
          </a:xfrm>
          <a:prstGeom prst="rect">
            <a:avLst/>
          </a:prstGeom>
          <a:noFill/>
          <a:ln/>
        </p:spPr>
        <p:txBody>
          <a:bodyPr wrap="square" lIns="0" tIns="0" rIns="0" bIns="0" rtlCol="0" anchor="t"/>
          <a:lstStyle/>
          <a:p>
            <a:pPr algn="l" indent="0" marL="0">
              <a:lnSpc>
                <a:spcPts val="2700"/>
              </a:lnSpc>
              <a:buNone/>
            </a:pPr>
            <a:r>
              <a:rPr lang="en-US" sz="1700" dirty="0">
                <a:solidFill>
                  <a:srgbClr val="384653"/>
                </a:solidFill>
                <a:latin typeface="Montserrat" pitchFamily="34" charset="0"/>
                <a:ea typeface="Montserrat" pitchFamily="34" charset="-122"/>
                <a:cs typeface="Montserrat" pitchFamily="34" charset="-120"/>
              </a:rPr>
              <a:t>Thước đo thành công tương tác dài hạn dựa trên chất lượng tương tác.</a:t>
            </a:r>
            <a:endParaRPr lang="en-US" sz="1700" dirty="0"/>
          </a:p>
        </p:txBody>
      </p:sp>
      <p:sp>
        <p:nvSpPr>
          <p:cNvPr id="19" name="Shape 14"/>
          <p:cNvSpPr/>
          <p:nvPr/>
        </p:nvSpPr>
        <p:spPr>
          <a:xfrm>
            <a:off x="7450574" y="5307806"/>
            <a:ext cx="5492591" cy="270748"/>
          </a:xfrm>
          <a:prstGeom prst="roundRect">
            <a:avLst>
              <a:gd name="adj" fmla="val 120035"/>
            </a:avLst>
          </a:prstGeom>
          <a:solidFill>
            <a:srgbClr val="D4E9F7"/>
          </a:solidFill>
          <a:ln w="7620">
            <a:solidFill>
              <a:srgbClr val="BACFDD"/>
            </a:solidFill>
            <a:prstDash val="solid"/>
          </a:ln>
        </p:spPr>
      </p:sp>
      <p:pic>
        <p:nvPicPr>
          <p:cNvPr id="20" name="Image 3" descr="preencoded.png">    </p:cNvPr>
          <p:cNvPicPr>
            <a:picLocks noChangeAspect="1"/>
          </p:cNvPicPr>
          <p:nvPr/>
        </p:nvPicPr>
        <p:blipFill>
          <a:blip r:embed="rId4"/>
          <a:stretch>
            <a:fillRect/>
          </a:stretch>
        </p:blipFill>
        <p:spPr>
          <a:xfrm>
            <a:off x="7450574" y="5307806"/>
            <a:ext cx="5492591" cy="270748"/>
          </a:xfrm>
          <a:prstGeom prst="rect">
            <a:avLst/>
          </a:prstGeom>
        </p:spPr>
      </p:pic>
      <p:sp>
        <p:nvSpPr>
          <p:cNvPr id="21" name="Text 15"/>
          <p:cNvSpPr/>
          <p:nvPr/>
        </p:nvSpPr>
        <p:spPr>
          <a:xfrm>
            <a:off x="13105567" y="5307806"/>
            <a:ext cx="766524" cy="270748"/>
          </a:xfrm>
          <a:prstGeom prst="rect">
            <a:avLst/>
          </a:prstGeom>
          <a:noFill/>
          <a:ln/>
        </p:spPr>
        <p:txBody>
          <a:bodyPr wrap="none" lIns="0" tIns="0" rIns="0" bIns="0" rtlCol="0" anchor="t"/>
          <a:lstStyle/>
          <a:p>
            <a:pPr algn="l" indent="0" marL="0">
              <a:lnSpc>
                <a:spcPts val="2100"/>
              </a:lnSpc>
              <a:buNone/>
            </a:pPr>
            <a:r>
              <a:rPr lang="en-US" sz="2100" b="1" dirty="0">
                <a:solidFill>
                  <a:srgbClr val="384653"/>
                </a:solidFill>
                <a:latin typeface="Barlow Bold" pitchFamily="34" charset="0"/>
                <a:ea typeface="Barlow Bold" pitchFamily="34" charset="-122"/>
                <a:cs typeface="Barlow Bold" pitchFamily="34" charset="-120"/>
              </a:rPr>
              <a:t>100ms</a:t>
            </a:r>
            <a:endParaRPr lang="en-US" sz="2100" dirty="0"/>
          </a:p>
        </p:txBody>
      </p:sp>
      <p:sp>
        <p:nvSpPr>
          <p:cNvPr id="22" name="Text 16"/>
          <p:cNvSpPr/>
          <p:nvPr/>
        </p:nvSpPr>
        <p:spPr>
          <a:xfrm>
            <a:off x="7450574" y="5849183"/>
            <a:ext cx="2850713" cy="356235"/>
          </a:xfrm>
          <a:prstGeom prst="rect">
            <a:avLst/>
          </a:prstGeom>
          <a:noFill/>
          <a:ln/>
        </p:spPr>
        <p:txBody>
          <a:bodyPr wrap="none" lIns="0" tIns="0" rIns="0" bIns="0" rtlCol="0" anchor="t"/>
          <a:lstStyle/>
          <a:p>
            <a:pPr algn="l" indent="0" marL="0">
              <a:lnSpc>
                <a:spcPts val="2800"/>
              </a:lnSpc>
              <a:buNone/>
            </a:pPr>
            <a:r>
              <a:rPr lang="en-US" sz="2200" b="1" dirty="0">
                <a:solidFill>
                  <a:srgbClr val="384653"/>
                </a:solidFill>
                <a:latin typeface="Barlow Bold" pitchFamily="34" charset="0"/>
                <a:ea typeface="Barlow Bold" pitchFamily="34" charset="-122"/>
                <a:cs typeface="Barlow Bold" pitchFamily="34" charset="-120"/>
              </a:rPr>
              <a:t>Độ Trễ Tin Nhắn Tối Đa</a:t>
            </a:r>
            <a:endParaRPr lang="en-US" sz="2200" dirty="0"/>
          </a:p>
        </p:txBody>
      </p:sp>
      <p:sp>
        <p:nvSpPr>
          <p:cNvPr id="23" name="Text 17"/>
          <p:cNvSpPr/>
          <p:nvPr/>
        </p:nvSpPr>
        <p:spPr>
          <a:xfrm>
            <a:off x="7450574" y="6335316"/>
            <a:ext cx="6421517" cy="693420"/>
          </a:xfrm>
          <a:prstGeom prst="rect">
            <a:avLst/>
          </a:prstGeom>
          <a:noFill/>
          <a:ln/>
        </p:spPr>
        <p:txBody>
          <a:bodyPr wrap="square" lIns="0" tIns="0" rIns="0" bIns="0" rtlCol="0" anchor="t"/>
          <a:lstStyle/>
          <a:p>
            <a:pPr algn="l" indent="0" marL="0">
              <a:lnSpc>
                <a:spcPts val="2700"/>
              </a:lnSpc>
              <a:buNone/>
            </a:pPr>
            <a:r>
              <a:rPr lang="en-US" sz="1700" dirty="0">
                <a:solidFill>
                  <a:srgbClr val="384653"/>
                </a:solidFill>
                <a:latin typeface="Montserrat" pitchFamily="34" charset="0"/>
                <a:ea typeface="Montserrat" pitchFamily="34" charset="-122"/>
                <a:cs typeface="Montserrat" pitchFamily="34" charset="-120"/>
              </a:rPr>
              <a:t>Mục tiêu của chúng tôi cho thời gian gửi tin nhắn trong điều kiện tải thông thường.</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869680" y="0"/>
            <a:ext cx="5760720" cy="8229600"/>
          </a:xfrm>
          <a:prstGeom prst="rect">
            <a:avLst/>
          </a:prstGeom>
        </p:spPr>
      </p:pic>
      <p:sp>
        <p:nvSpPr>
          <p:cNvPr id="3" name="Text 0"/>
          <p:cNvSpPr/>
          <p:nvPr/>
        </p:nvSpPr>
        <p:spPr>
          <a:xfrm>
            <a:off x="758309" y="1550194"/>
            <a:ext cx="7627382" cy="2138005"/>
          </a:xfrm>
          <a:prstGeom prst="rect">
            <a:avLst/>
          </a:prstGeom>
          <a:noFill/>
          <a:ln/>
        </p:spPr>
        <p:txBody>
          <a:bodyPr wrap="none" lIns="0" tIns="0" rIns="0" bIns="0" rtlCol="0" anchor="t"/>
          <a:lstStyle/>
          <a:p>
            <a:pPr algn="l" indent="0" marL="0">
              <a:lnSpc>
                <a:spcPts val="16800"/>
              </a:lnSpc>
              <a:buNone/>
            </a:pPr>
            <a:r>
              <a:rPr lang="en-US" sz="13450" b="1" dirty="0">
                <a:solidFill>
                  <a:srgbClr val="2E3C4E"/>
                </a:solidFill>
                <a:latin typeface="Barlow Bold" pitchFamily="34" charset="0"/>
                <a:ea typeface="Barlow Bold" pitchFamily="34" charset="-122"/>
                <a:cs typeface="Barlow Bold" pitchFamily="34" charset="-120"/>
              </a:rPr>
              <a:t>Cảm Ơn</a:t>
            </a:r>
            <a:endParaRPr lang="en-US" sz="13450" dirty="0"/>
          </a:p>
        </p:txBody>
      </p:sp>
      <p:sp>
        <p:nvSpPr>
          <p:cNvPr id="4" name="Text 1"/>
          <p:cNvSpPr/>
          <p:nvPr/>
        </p:nvSpPr>
        <p:spPr>
          <a:xfrm>
            <a:off x="758309" y="4013121"/>
            <a:ext cx="5863471" cy="570071"/>
          </a:xfrm>
          <a:prstGeom prst="rect">
            <a:avLst/>
          </a:prstGeom>
          <a:noFill/>
          <a:ln/>
        </p:spPr>
        <p:txBody>
          <a:bodyPr wrap="none" lIns="0" tIns="0" rIns="0" bIns="0" rtlCol="0" anchor="t"/>
          <a:lstStyle/>
          <a:p>
            <a:pPr algn="l" indent="0" marL="0">
              <a:lnSpc>
                <a:spcPts val="4450"/>
              </a:lnSpc>
              <a:buNone/>
            </a:pPr>
            <a:r>
              <a:rPr lang="en-US" sz="3550" b="1" dirty="0">
                <a:solidFill>
                  <a:srgbClr val="2E3C4E"/>
                </a:solidFill>
                <a:latin typeface="Barlow Bold" pitchFamily="34" charset="0"/>
                <a:ea typeface="Barlow Bold" pitchFamily="34" charset="-122"/>
                <a:cs typeface="Barlow Bold" pitchFamily="34" charset="-120"/>
              </a:rPr>
              <a:t>Sẵn Sàng Xây Dựng Tương Lai</a:t>
            </a:r>
            <a:endParaRPr lang="en-US" sz="3550" dirty="0"/>
          </a:p>
        </p:txBody>
      </p:sp>
      <p:sp>
        <p:nvSpPr>
          <p:cNvPr id="5" name="Text 2"/>
          <p:cNvSpPr/>
          <p:nvPr/>
        </p:nvSpPr>
        <p:spPr>
          <a:xfrm>
            <a:off x="758309" y="4908113"/>
            <a:ext cx="7627382" cy="693420"/>
          </a:xfrm>
          <a:prstGeom prst="rect">
            <a:avLst/>
          </a:prstGeom>
          <a:noFill/>
          <a:ln/>
        </p:spPr>
        <p:txBody>
          <a:bodyPr wrap="square" lIns="0" tIns="0" rIns="0" bIns="0" rtlCol="0" anchor="t"/>
          <a:lstStyle/>
          <a:p>
            <a:pPr algn="l" indent="0" marL="0">
              <a:lnSpc>
                <a:spcPts val="2700"/>
              </a:lnSpc>
              <a:buNone/>
            </a:pPr>
            <a:r>
              <a:rPr lang="en-US" sz="1700" dirty="0">
                <a:solidFill>
                  <a:srgbClr val="384653"/>
                </a:solidFill>
                <a:latin typeface="Montserrat" pitchFamily="34" charset="0"/>
                <a:ea typeface="Montserrat" pitchFamily="34" charset="-122"/>
                <a:cs typeface="Montserrat" pitchFamily="34" charset="-120"/>
              </a:rPr>
              <a:t>Chúng tôi mong muốn vượt qua những ranh giới của những gì có thể. Can't stop, we won't stop!</a:t>
            </a:r>
            <a:endParaRPr lang="en-US" sz="1700" dirty="0"/>
          </a:p>
        </p:txBody>
      </p:sp>
      <p:sp>
        <p:nvSpPr>
          <p:cNvPr id="6" name="Text 3"/>
          <p:cNvSpPr/>
          <p:nvPr/>
        </p:nvSpPr>
        <p:spPr>
          <a:xfrm>
            <a:off x="1083231" y="6088975"/>
            <a:ext cx="7302460" cy="346710"/>
          </a:xfrm>
          <a:prstGeom prst="rect">
            <a:avLst/>
          </a:prstGeom>
          <a:noFill/>
          <a:ln/>
        </p:spPr>
        <p:txBody>
          <a:bodyPr wrap="none" lIns="0" tIns="0" rIns="0" bIns="0" rtlCol="0" anchor="t"/>
          <a:lstStyle/>
          <a:p>
            <a:pPr algn="l" indent="0" marL="0">
              <a:lnSpc>
                <a:spcPts val="2700"/>
              </a:lnSpc>
              <a:buNone/>
            </a:pPr>
            <a:r>
              <a:rPr lang="en-US" sz="1700" u="sng" dirty="0">
                <a:solidFill>
                  <a:srgbClr val="359DDF"/>
                </a:solidFill>
                <a:latin typeface="Montserrat" pitchFamily="34" charset="0"/>
                <a:ea typeface="Montserrat" pitchFamily="34" charset="-122"/>
                <a:cs typeface="Montserrat" pitchFamily="34" charset="-120"/>
                <a:hlinkClick r:id="rId2" invalidUrl="" action="" tgtFrame="" tooltip="" history="1" highlightClick="0" endSnd="0">
                  <a:extLst>
                    <a:ext uri="{A12FA001-AC4F-418D-AE19-62706E023703}">
                      <ahyp:hlinkClr xmlns:ahyp="http://schemas.microsoft.com/office/drawing/2018/hyperlinkcolor" val="tx"/>
                    </a:ext>
                  </a:extLst>
                </a:hlinkClick>
              </a:rPr>
              <a:t>website</a:t>
            </a:r>
            <a:endParaRPr lang="en-US" sz="1700" dirty="0"/>
          </a:p>
        </p:txBody>
      </p:sp>
      <p:sp>
        <p:nvSpPr>
          <p:cNvPr id="7" name="Shape 4"/>
          <p:cNvSpPr/>
          <p:nvPr/>
        </p:nvSpPr>
        <p:spPr>
          <a:xfrm>
            <a:off x="758309" y="5845254"/>
            <a:ext cx="30480" cy="834152"/>
          </a:xfrm>
          <a:prstGeom prst="rect">
            <a:avLst/>
          </a:prstGeom>
          <a:solidFill>
            <a:srgbClr val="75BAE6"/>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2025-10-23T07:11:07Z</dcterms:created>
  <dcterms:modified xsi:type="dcterms:W3CDTF">2025-10-23T07:11:07Z</dcterms:modified>
</cp:coreProperties>
</file>